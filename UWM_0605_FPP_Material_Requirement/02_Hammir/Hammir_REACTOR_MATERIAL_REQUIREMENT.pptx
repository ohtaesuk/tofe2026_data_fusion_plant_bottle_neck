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5"/>
  </p:notesMasterIdLst>
  <p:handoutMasterIdLst>
    <p:handoutMasterId r:id="rId16"/>
  </p:handoutMasterIdLst>
  <p:sldIdLst>
    <p:sldId id="852" r:id="rId2"/>
    <p:sldId id="853" r:id="rId3"/>
    <p:sldId id="854" r:id="rId4"/>
    <p:sldId id="855" r:id="rId5"/>
    <p:sldId id="8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8" autoAdjust="0"/>
    <p:restoredTop sz="96391" autoAdjust="0"/>
  </p:normalViewPr>
  <p:slideViewPr>
    <p:cSldViewPr>
      <p:cViewPr varScale="1">
        <p:scale>
          <a:sx n="115" d="100"/>
          <a:sy n="115" d="100"/>
        </p:scale>
        <p:origin x="1686" y="84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2026-06-11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hitarthrs/parata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</a:t>
            </a:r>
            <a:r>
              <a:rPr lang="en-US" altLang="ko-KR" dirty="0" err="1"/>
              <a:t>Hammir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High-field Axisymmetric Magnetic Mirror Machine</a:t>
            </a:r>
          </a:p>
          <a:p>
            <a:pPr lvl="1"/>
            <a:r>
              <a:rPr lang="en-US" altLang="ko-KR" dirty="0"/>
              <a:t>Very long ‘Fusion Plasma’ region length / Requires lots of LF coil in the </a:t>
            </a:r>
            <a:r>
              <a:rPr lang="en-US" altLang="ko-KR" dirty="0" err="1"/>
              <a:t>centre</a:t>
            </a:r>
            <a:r>
              <a:rPr lang="en-US" altLang="ko-KR" dirty="0"/>
              <a:t> region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Based on the presented material(s), make a best guess regarding the configuration of the </a:t>
            </a:r>
            <a:r>
              <a:rPr lang="en-US" altLang="ko-KR" dirty="0" err="1"/>
              <a:t>Hammir</a:t>
            </a:r>
            <a:r>
              <a:rPr lang="en-US" altLang="ko-KR" dirty="0"/>
              <a:t> FPP </a:t>
            </a:r>
          </a:p>
          <a:p>
            <a:pPr lvl="2"/>
            <a:r>
              <a:rPr lang="en-US" altLang="ko-KR" dirty="0"/>
              <a:t>Length of the central axis (vacuum vessel surrounding plasma)</a:t>
            </a:r>
          </a:p>
          <a:p>
            <a:pPr lvl="2"/>
            <a:r>
              <a:rPr lang="en-US" altLang="ko-KR" dirty="0"/>
              <a:t>Number (position) of magnets in both central &amp; end plug regions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913207-6142-281E-C9B5-85658189F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58925"/>
            <a:ext cx="8424938" cy="33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2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95058-15D4-1F15-F4DE-F1E4F5D3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</a:t>
            </a:r>
            <a:r>
              <a:rPr lang="en-US" altLang="ko-KR" dirty="0" err="1"/>
              <a:t>Hammir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124C69-FD16-4B9B-5233-B93F3B622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Modelling used PARATAN code: </a:t>
            </a:r>
            <a:r>
              <a:rPr lang="en-US" dirty="0">
                <a:hlinkClick r:id="rId2"/>
              </a:rPr>
              <a:t>https://github.com/hitarthrs/paratan</a:t>
            </a:r>
            <a:endParaRPr lang="en-US" dirty="0"/>
          </a:p>
          <a:p>
            <a:pPr lvl="1"/>
            <a:r>
              <a:rPr lang="en-US" dirty="0"/>
              <a:t>Python based code for generating </a:t>
            </a:r>
            <a:r>
              <a:rPr lang="en-US" dirty="0" err="1"/>
              <a:t>OpenMC</a:t>
            </a:r>
            <a:r>
              <a:rPr lang="en-US" dirty="0"/>
              <a:t> input for modelling magnetic mirrors/tandem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information for </a:t>
            </a:r>
            <a:r>
              <a:rPr lang="en-US" altLang="ko-KR" dirty="0" err="1"/>
              <a:t>Hammir</a:t>
            </a:r>
            <a:r>
              <a:rPr lang="en-US" dirty="0"/>
              <a:t> configuration was extrapolated from:</a:t>
            </a:r>
          </a:p>
          <a:p>
            <a:pPr lvl="2"/>
            <a:r>
              <a:rPr lang="en-US" dirty="0"/>
              <a:t>Samuel Frank et al., ‘Confinement performance predictions for a high field axisymmetric    tandem mirror’ </a:t>
            </a:r>
            <a:r>
              <a:rPr lang="pt-BR" dirty="0"/>
              <a:t>J. Plasma Phys. (2025), vol. 91, E110</a:t>
            </a:r>
          </a:p>
          <a:p>
            <a:pPr lvl="2"/>
            <a:r>
              <a:rPr lang="en-US" dirty="0"/>
              <a:t>Hitarth Shah et al., ‘</a:t>
            </a:r>
            <a:r>
              <a:rPr lang="en-US" dirty="0" err="1"/>
              <a:t>ParaTAN</a:t>
            </a:r>
            <a:r>
              <a:rPr lang="en-US" dirty="0"/>
              <a:t>: Parametric Neutronics Modelling for Mirror Devices’ SOFE 2025 Poster Presentation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central plasma length is ~ 50 m, with central coils placed with 1 m distancing </a:t>
            </a:r>
          </a:p>
          <a:p>
            <a:pPr lvl="1"/>
            <a:r>
              <a:rPr lang="en-US" dirty="0"/>
              <a:t>Fusion power of </a:t>
            </a:r>
            <a:r>
              <a:rPr lang="en-US" dirty="0">
                <a:highlight>
                  <a:srgbClr val="FFFF00"/>
                </a:highlight>
              </a:rPr>
              <a:t>350 </a:t>
            </a:r>
            <a:r>
              <a:rPr lang="en-US" dirty="0" err="1">
                <a:highlight>
                  <a:srgbClr val="FFFF00"/>
                </a:highlight>
              </a:rPr>
              <a:t>MWth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(= Net electricity power of 165 Mwe)</a:t>
            </a:r>
            <a:endParaRPr lang="pt-BR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857DD5-C99B-4B45-5816-9E13290D7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그림 4" descr="텍스트, 스크린샷, 라인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A0906F-9BAF-976F-983A-5E9EE179D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68677" y="-2176389"/>
            <a:ext cx="1599912" cy="87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5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04A62-04AA-DE54-FAAE-7F3F5CD8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</a:t>
            </a:r>
            <a:r>
              <a:rPr lang="en-US" altLang="ko-KR" dirty="0" err="1"/>
              <a:t>Hammir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23FB48-9F82-D027-C5B4-43B9E3019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2C16421-9409-3732-7A0D-C5E4C16AA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50" y="1959200"/>
            <a:ext cx="8928100" cy="32823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1A887C-A50B-B526-3631-B17E2669A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04549"/>
            <a:ext cx="3151905" cy="106689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A4C750-9F9E-D873-1686-70D67ED1BC9E}"/>
              </a:ext>
            </a:extLst>
          </p:cNvPr>
          <p:cNvSpPr/>
          <p:nvPr/>
        </p:nvSpPr>
        <p:spPr>
          <a:xfrm>
            <a:off x="689856" y="2908195"/>
            <a:ext cx="144016" cy="2160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3D42849-97EE-6924-5C43-3D9F2982CAF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761864" y="1671441"/>
            <a:ext cx="209736" cy="1236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174311-3235-205E-E95D-8A9FB1471CF3}"/>
              </a:ext>
            </a:extLst>
          </p:cNvPr>
          <p:cNvSpPr txBox="1"/>
          <p:nvPr/>
        </p:nvSpPr>
        <p:spPr>
          <a:xfrm>
            <a:off x="4696966" y="3859288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bg1"/>
                </a:solidFill>
              </a:rPr>
              <a:t>PbLi</a:t>
            </a:r>
            <a:r>
              <a:rPr lang="en-US" sz="1400" dirty="0">
                <a:solidFill>
                  <a:schemeClr val="bg1"/>
                </a:solidFill>
              </a:rPr>
              <a:t> (Blanket)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E013866-DF01-5174-3840-122152330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410" y="640153"/>
            <a:ext cx="2009685" cy="1274064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1B386407-CF02-87B3-D646-EF5A18B01EC1}"/>
              </a:ext>
            </a:extLst>
          </p:cNvPr>
          <p:cNvSpPr/>
          <p:nvPr/>
        </p:nvSpPr>
        <p:spPr>
          <a:xfrm>
            <a:off x="3269683" y="2800183"/>
            <a:ext cx="144016" cy="21602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0278D5C-B98E-8AFC-0114-25978581D014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3341691" y="1914217"/>
            <a:ext cx="1089562" cy="885966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6184A880-243E-17DC-FE2A-995F05605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276" y="609868"/>
            <a:ext cx="2777101" cy="1066878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88F6D2B1-53EC-639A-962B-A26A4AF21C66}"/>
              </a:ext>
            </a:extLst>
          </p:cNvPr>
          <p:cNvSpPr/>
          <p:nvPr/>
        </p:nvSpPr>
        <p:spPr>
          <a:xfrm>
            <a:off x="7020272" y="2979254"/>
            <a:ext cx="144016" cy="216024"/>
          </a:xfrm>
          <a:prstGeom prst="rect">
            <a:avLst/>
          </a:prstGeom>
          <a:noFill/>
          <a:ln w="28575">
            <a:solidFill>
              <a:srgbClr val="3333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C8327D2-10FE-478C-2B0E-2ECF54D6F1BF}"/>
              </a:ext>
            </a:extLst>
          </p:cNvPr>
          <p:cNvCxnSpPr>
            <a:cxnSpLocks/>
          </p:cNvCxnSpPr>
          <p:nvPr/>
        </p:nvCxnSpPr>
        <p:spPr>
          <a:xfrm flipH="1" flipV="1">
            <a:off x="7020272" y="1660207"/>
            <a:ext cx="72008" cy="1356000"/>
          </a:xfrm>
          <a:prstGeom prst="straightConnector1">
            <a:avLst/>
          </a:prstGeom>
          <a:ln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D9FBEB7-9911-07C1-2ABE-E0B208E5607A}"/>
              </a:ext>
            </a:extLst>
          </p:cNvPr>
          <p:cNvSpPr/>
          <p:nvPr/>
        </p:nvSpPr>
        <p:spPr>
          <a:xfrm>
            <a:off x="6216276" y="3682146"/>
            <a:ext cx="731988" cy="847521"/>
          </a:xfrm>
          <a:prstGeom prst="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CBED028-D452-CE02-CFFF-321A01D9A490}"/>
              </a:ext>
            </a:extLst>
          </p:cNvPr>
          <p:cNvCxnSpPr>
            <a:cxnSpLocks/>
          </p:cNvCxnSpPr>
          <p:nvPr/>
        </p:nvCxnSpPr>
        <p:spPr>
          <a:xfrm>
            <a:off x="6588224" y="4529667"/>
            <a:ext cx="0" cy="267485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D9162D8-4CCD-6E45-31A1-90A84CD6E5EB}"/>
              </a:ext>
            </a:extLst>
          </p:cNvPr>
          <p:cNvSpPr txBox="1"/>
          <p:nvPr/>
        </p:nvSpPr>
        <p:spPr>
          <a:xfrm>
            <a:off x="6216276" y="4786312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HF coils: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EAD536-305A-BC71-6C4E-E076F426D98C}"/>
              </a:ext>
            </a:extLst>
          </p:cNvPr>
          <p:cNvSpPr txBox="1"/>
          <p:nvPr/>
        </p:nvSpPr>
        <p:spPr>
          <a:xfrm>
            <a:off x="119830" y="5255759"/>
            <a:ext cx="8556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*Magnetic Winding Pack: copper, silver, </a:t>
            </a:r>
            <a:r>
              <a:rPr lang="en-US" sz="1600" dirty="0" err="1"/>
              <a:t>Rebco</a:t>
            </a:r>
            <a:r>
              <a:rPr lang="en-US" sz="1600" dirty="0"/>
              <a:t>, LaMnO3, MgO, Y2O3, Alumina, Hastelloy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681C7C-6EE8-5032-B574-D8DF6172D8FB}"/>
              </a:ext>
            </a:extLst>
          </p:cNvPr>
          <p:cNvSpPr txBox="1"/>
          <p:nvPr/>
        </p:nvSpPr>
        <p:spPr>
          <a:xfrm>
            <a:off x="6257049" y="3837238"/>
            <a:ext cx="6880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Magnetic </a:t>
            </a:r>
          </a:p>
          <a:p>
            <a:r>
              <a:rPr lang="en-US" sz="900" dirty="0">
                <a:solidFill>
                  <a:schemeClr val="bg1"/>
                </a:solidFill>
              </a:rPr>
              <a:t>Winding</a:t>
            </a:r>
          </a:p>
          <a:p>
            <a:r>
              <a:rPr lang="en-US" sz="900" dirty="0">
                <a:solidFill>
                  <a:schemeClr val="bg1"/>
                </a:solidFill>
              </a:rPr>
              <a:t>Pack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49AC9A-C76E-C395-DD52-6CC349CF6FA5}"/>
              </a:ext>
            </a:extLst>
          </p:cNvPr>
          <p:cNvSpPr txBox="1"/>
          <p:nvPr/>
        </p:nvSpPr>
        <p:spPr>
          <a:xfrm>
            <a:off x="107950" y="5658483"/>
            <a:ext cx="85566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HF coils: Magnetic Winding Pack surrounded by thin SS316n / Thick Tungsten Boride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6AB339-676D-761E-FF8E-0A7DD94F986C}"/>
              </a:ext>
            </a:extLst>
          </p:cNvPr>
          <p:cNvSpPr txBox="1"/>
          <p:nvPr/>
        </p:nvSpPr>
        <p:spPr>
          <a:xfrm>
            <a:off x="2509539" y="3446505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Plasma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18DFCE-22DD-9538-94C7-3C519A177926}"/>
              </a:ext>
            </a:extLst>
          </p:cNvPr>
          <p:cNvSpPr txBox="1"/>
          <p:nvPr/>
        </p:nvSpPr>
        <p:spPr>
          <a:xfrm>
            <a:off x="7308304" y="3808902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Vacuum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2D5741-187C-F819-B841-337846D5EE41}"/>
              </a:ext>
            </a:extLst>
          </p:cNvPr>
          <p:cNvSpPr txBox="1"/>
          <p:nvPr/>
        </p:nvSpPr>
        <p:spPr>
          <a:xfrm>
            <a:off x="105733" y="3866997"/>
            <a:ext cx="3797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First Wall: Tungsten + Eurofer97 (</a:t>
            </a:r>
            <a:r>
              <a:rPr lang="en-US" sz="1400" dirty="0" err="1"/>
              <a:t>Rafm</a:t>
            </a:r>
            <a:r>
              <a:rPr lang="en-US" sz="1400" dirty="0"/>
              <a:t> Steel)</a:t>
            </a:r>
          </a:p>
        </p:txBody>
      </p:sp>
    </p:spTree>
    <p:extLst>
      <p:ext uri="{BB962C8B-B14F-4D97-AF65-F5344CB8AC3E}">
        <p14:creationId xmlns:p14="http://schemas.microsoft.com/office/powerpoint/2010/main" val="29972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F6B79B-13DE-E227-425C-937D98565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</a:t>
            </a:r>
            <a:r>
              <a:rPr lang="en-US" altLang="ko-KR" dirty="0" err="1"/>
              <a:t>Hammir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FD921-6E01-3380-D9BA-03134699F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CA24E7E-3F5A-2EDA-B423-A9761A8E8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478040"/>
              </p:ext>
            </p:extLst>
          </p:nvPr>
        </p:nvGraphicFramePr>
        <p:xfrm>
          <a:off x="107950" y="620713"/>
          <a:ext cx="8778242" cy="454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64496">
                  <a:extLst>
                    <a:ext uri="{9D8B030D-6E8A-4147-A177-3AD203B41FA5}">
                      <a16:colId xmlns:a16="http://schemas.microsoft.com/office/drawing/2014/main" val="410338466"/>
                    </a:ext>
                  </a:extLst>
                </a:gridCol>
                <a:gridCol w="4313746">
                  <a:extLst>
                    <a:ext uri="{9D8B030D-6E8A-4147-A177-3AD203B41FA5}">
                      <a16:colId xmlns:a16="http://schemas.microsoft.com/office/drawing/2014/main" val="944753189"/>
                    </a:ext>
                  </a:extLst>
                </a:gridCol>
              </a:tblGrid>
              <a:tr h="1419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 err="1">
                          <a:effectLst/>
                        </a:rPr>
                        <a:t>component_name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mass [ton]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5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</a:rPr>
                        <a:t>PbLi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3352.09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774980"/>
                  </a:ext>
                </a:extLst>
              </a:tr>
              <a:tr h="2523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tungsten carbide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2280.55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339413"/>
                  </a:ext>
                </a:extLst>
              </a:tr>
              <a:tr h="2523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tungsten boride WB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781.18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231093"/>
                  </a:ext>
                </a:extLst>
              </a:tr>
              <a:tr h="220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Hastelloy C-276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649.75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432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stainless 304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438.60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08463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Eurofer97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Includes First Wall Eurofer97 as well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180.33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401608"/>
                  </a:ext>
                </a:extLst>
              </a:tr>
              <a:tr h="126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Copper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109.14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7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Silver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51.11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39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Tungsten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23.57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814344"/>
                  </a:ext>
                </a:extLst>
              </a:tr>
              <a:tr h="473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SS316LN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17.25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2763"/>
                  </a:ext>
                </a:extLst>
              </a:tr>
              <a:tr h="2365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1" u="none" strike="sng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REBCO tape</a:t>
                      </a:r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 [MADE A MISTAKE!]</a:t>
                      </a:r>
                      <a:endParaRPr lang="en-US" sz="1800" b="1" i="1" u="none" strike="sng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1" u="none" strike="sng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8789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Magnesium oxide MgO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790708"/>
                  </a:ext>
                </a:extLst>
              </a:tr>
              <a:tr h="141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LaMnO3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12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Alumina: Al2O3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662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Yttrium Oxide: Y2O3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7797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553BBEF-EFF9-832B-3023-E3E9A0715095}"/>
              </a:ext>
            </a:extLst>
          </p:cNvPr>
          <p:cNvGraphicFramePr>
            <a:graphicFrameLocks noGrp="1"/>
          </p:cNvGraphicFramePr>
          <p:nvPr/>
        </p:nvGraphicFramePr>
        <p:xfrm>
          <a:off x="107950" y="5236934"/>
          <a:ext cx="8778242" cy="2838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64496">
                  <a:extLst>
                    <a:ext uri="{9D8B030D-6E8A-4147-A177-3AD203B41FA5}">
                      <a16:colId xmlns:a16="http://schemas.microsoft.com/office/drawing/2014/main" val="1302271613"/>
                    </a:ext>
                  </a:extLst>
                </a:gridCol>
                <a:gridCol w="4313746">
                  <a:extLst>
                    <a:ext uri="{9D8B030D-6E8A-4147-A177-3AD203B41FA5}">
                      <a16:colId xmlns:a16="http://schemas.microsoft.com/office/drawing/2014/main" val="2964649672"/>
                    </a:ext>
                  </a:extLst>
                </a:gridCol>
              </a:tblGrid>
              <a:tr h="1884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Eurofer97 (from First Wall)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23.536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5757878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7E204CD-3D12-FC63-3807-93B80A7E29EE}"/>
              </a:ext>
            </a:extLst>
          </p:cNvPr>
          <p:cNvSpPr txBox="1">
            <a:spLocks/>
          </p:cNvSpPr>
          <p:nvPr/>
        </p:nvSpPr>
        <p:spPr>
          <a:xfrm>
            <a:off x="107950" y="5520779"/>
            <a:ext cx="8928992" cy="904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1pPr>
            <a:lvl2pPr marL="360000" indent="-28575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–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2pPr>
            <a:lvl3pPr marL="540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3pPr>
            <a:lvl4pPr marL="720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–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4pPr>
            <a:lvl5pPr marL="900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»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400" dirty="0"/>
              <a:t>Pb (84.3 at%), Li (15.7 at%) </a:t>
            </a:r>
          </a:p>
          <a:p>
            <a:pPr lvl="2"/>
            <a:r>
              <a:rPr lang="en-US" sz="1400" dirty="0"/>
              <a:t>Natural Pb (lead), and Li-6 enrichment 30 at%</a:t>
            </a:r>
          </a:p>
          <a:p>
            <a:pPr lvl="1"/>
            <a:r>
              <a:rPr lang="en-US" sz="1400" dirty="0"/>
              <a:t>Both </a:t>
            </a:r>
            <a:r>
              <a:rPr lang="en-US" sz="1400" dirty="0" err="1"/>
              <a:t>PbLi</a:t>
            </a:r>
            <a:r>
              <a:rPr lang="en-US" sz="1400" dirty="0"/>
              <a:t> &amp; tungsten boride WB are likely to incur bottleneck issue / Others can be readily procured</a:t>
            </a:r>
          </a:p>
        </p:txBody>
      </p:sp>
    </p:spTree>
    <p:extLst>
      <p:ext uri="{BB962C8B-B14F-4D97-AF65-F5344CB8AC3E}">
        <p14:creationId xmlns:p14="http://schemas.microsoft.com/office/powerpoint/2010/main" val="357654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D22C-A3F2-90AE-1A63-C4F1B9B8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</a:t>
            </a:r>
            <a:r>
              <a:rPr lang="en-US" altLang="ko-KR" dirty="0" err="1"/>
              <a:t>Hammir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D752F-F06D-932D-52B7-E6949ADD3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Corresponding approximate </a:t>
            </a:r>
            <a:r>
              <a:rPr lang="en-US" dirty="0" err="1"/>
              <a:t>PbLi</a:t>
            </a:r>
            <a:r>
              <a:rPr lang="en-US" dirty="0"/>
              <a:t> mass fractions: </a:t>
            </a:r>
          </a:p>
          <a:p>
            <a:pPr lvl="1"/>
            <a:r>
              <a:rPr lang="en-US" dirty="0" err="1"/>
              <a:t>Li_enr</a:t>
            </a:r>
            <a:r>
              <a:rPr lang="en-US" dirty="0"/>
              <a:t> = 0.00598618 / Pb = 0.99401382 </a:t>
            </a:r>
          </a:p>
          <a:p>
            <a:pPr lvl="1"/>
            <a:r>
              <a:rPr lang="en-US" dirty="0"/>
              <a:t>For one full HAMMIR build: </a:t>
            </a:r>
          </a:p>
          <a:p>
            <a:pPr lvl="2"/>
            <a:r>
              <a:rPr lang="en-US" dirty="0" err="1"/>
              <a:t>PbLi</a:t>
            </a:r>
            <a:r>
              <a:rPr lang="en-US" dirty="0"/>
              <a:t> = 3,352,100 kg </a:t>
            </a:r>
          </a:p>
          <a:p>
            <a:pPr lvl="2"/>
            <a:r>
              <a:rPr lang="en-US" dirty="0"/>
              <a:t>Enriched Li requirement is: 3,352,100 * 0.00598618 ≈ 20,066 kg ≈ 20.1 t</a:t>
            </a:r>
          </a:p>
          <a:p>
            <a:pPr lvl="3"/>
            <a:r>
              <a:rPr lang="en-US" dirty="0"/>
              <a:t>The mass of Li-6 is then around </a:t>
            </a:r>
            <a:r>
              <a:rPr lang="en-US" dirty="0">
                <a:highlight>
                  <a:srgbClr val="FFFF00"/>
                </a:highlight>
              </a:rPr>
              <a:t>6 tons </a:t>
            </a:r>
            <a:r>
              <a:rPr lang="en-US" dirty="0"/>
              <a:t>(for deploying </a:t>
            </a:r>
            <a:r>
              <a:rPr lang="en-US" dirty="0" err="1"/>
              <a:t>Hammir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The annual Li-6 consumption is around 38.5 kg/year (</a:t>
            </a:r>
            <a:r>
              <a:rPr lang="en-US" dirty="0">
                <a:highlight>
                  <a:srgbClr val="FFFF00"/>
                </a:highlight>
              </a:rPr>
              <a:t>50 years: ~ 2 tons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May require replenishing Lithium-6 during operation</a:t>
            </a:r>
          </a:p>
          <a:p>
            <a:pPr lvl="2"/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(NEWLY ADDED) The </a:t>
            </a:r>
            <a:r>
              <a:rPr lang="en-US" dirty="0" err="1">
                <a:highlight>
                  <a:srgbClr val="FFFF00"/>
                </a:highlight>
              </a:rPr>
              <a:t>OpenMC</a:t>
            </a:r>
            <a:r>
              <a:rPr lang="en-US" dirty="0">
                <a:highlight>
                  <a:srgbClr val="FFFF00"/>
                </a:highlight>
              </a:rPr>
              <a:t> model only considers Blanket Region</a:t>
            </a:r>
          </a:p>
          <a:p>
            <a:pPr lvl="1"/>
            <a:r>
              <a:rPr lang="en-US" dirty="0"/>
              <a:t>Need to accommodate heat exchanger volume as well / Uses Brayton cycle </a:t>
            </a:r>
          </a:p>
          <a:p>
            <a:pPr lvl="1"/>
            <a:r>
              <a:rPr lang="en-US" dirty="0"/>
              <a:t>Lack of information or detail --- Postulate (x2) of the blanket volume for whole </a:t>
            </a:r>
            <a:r>
              <a:rPr lang="en-US" dirty="0" err="1"/>
              <a:t>PbLi</a:t>
            </a:r>
            <a:r>
              <a:rPr lang="en-US" dirty="0"/>
              <a:t> volume</a:t>
            </a:r>
          </a:p>
          <a:p>
            <a:pPr lvl="2"/>
            <a:r>
              <a:rPr lang="en-US" dirty="0" err="1"/>
              <a:t>PbLi</a:t>
            </a:r>
            <a:r>
              <a:rPr lang="en-US" dirty="0"/>
              <a:t> = 3,352,100 kg (x2) = 6,704,200 kg</a:t>
            </a:r>
          </a:p>
          <a:p>
            <a:pPr lvl="2"/>
            <a:r>
              <a:rPr lang="en-US" dirty="0"/>
              <a:t>Enriched Li requirement is approximately 40.2 tons (Mass of Li-6 would be around 12 tons)</a:t>
            </a:r>
          </a:p>
          <a:p>
            <a:pPr lvl="2"/>
            <a:endParaRPr lang="en-US" dirty="0"/>
          </a:p>
          <a:p>
            <a:r>
              <a:rPr lang="en-US" dirty="0"/>
              <a:t>Made a mistake interpreting required REBCO for </a:t>
            </a:r>
            <a:r>
              <a:rPr lang="en-US" dirty="0" err="1"/>
              <a:t>Hammir</a:t>
            </a:r>
            <a:endParaRPr lang="en-US" dirty="0"/>
          </a:p>
          <a:p>
            <a:pPr lvl="1"/>
            <a:r>
              <a:rPr lang="en-US" dirty="0"/>
              <a:t>See the following slides for corrected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FE462-8760-0EB2-3CEF-ED92A0E8B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07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Magnetic Winding Pack – REBCO Tapes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Despite recent progress on High Temperature Superconductor (HTS) cables</a:t>
            </a:r>
          </a:p>
          <a:p>
            <a:pPr lvl="1"/>
            <a:r>
              <a:rPr lang="en-US" altLang="ko-KR" dirty="0"/>
              <a:t>(1) quench protection and (2) winding pack stress management remain to be outstanding issues for large scale applications for fusion.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Quenching?</a:t>
            </a:r>
          </a:p>
          <a:p>
            <a:pPr lvl="1"/>
            <a:r>
              <a:rPr lang="en-US" dirty="0"/>
              <a:t>Transition from </a:t>
            </a:r>
            <a:r>
              <a:rPr lang="en-US" b="1" dirty="0"/>
              <a:t>superconducting state → normal resistive state</a:t>
            </a:r>
          </a:p>
          <a:p>
            <a:pPr lvl="1"/>
            <a:r>
              <a:rPr lang="en-US" dirty="0"/>
              <a:t>Causes </a:t>
            </a:r>
            <a:r>
              <a:rPr lang="en-US" b="1" dirty="0"/>
              <a:t>sudden heat generation (J²R heating)</a:t>
            </a:r>
          </a:p>
          <a:p>
            <a:pPr lvl="1"/>
            <a:r>
              <a:rPr lang="en-US" dirty="0"/>
              <a:t>Can lead to </a:t>
            </a:r>
            <a:r>
              <a:rPr lang="en-US" b="1" dirty="0"/>
              <a:t>thermal runaway and magnet damage</a:t>
            </a:r>
            <a:r>
              <a:rPr lang="en-US" dirty="0"/>
              <a:t> if not controlled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REBCO (Rare Earth Barium Copper Oxide) Tape:</a:t>
            </a:r>
          </a:p>
          <a:p>
            <a:pPr lvl="1"/>
            <a:r>
              <a:rPr lang="en-US" altLang="ko-KR" dirty="0"/>
              <a:t>Thickness ~ 0.1 mm / Width ~ 10 mm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D078B-C1D1-1AE3-D29A-3E85B1E82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221088"/>
            <a:ext cx="4608512" cy="2117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24A17-675B-E29A-B9E2-CBDC52B2C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6" y="3227119"/>
            <a:ext cx="3705985" cy="311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2019-BF96-6230-61AA-79B9557F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Magnetic Winding Pack – REBCO Tapes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BDC4D-3F04-59F3-4139-EB8DCDFEE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magnetic winding pact does not solely comprise of REBCO tape</a:t>
            </a:r>
          </a:p>
          <a:p>
            <a:pPr lvl="1"/>
            <a:r>
              <a:rPr lang="en-US" dirty="0"/>
              <a:t>While REBCO tape includes an intrinsic stabilizer, additional coil-level stabilization is required due to quench propagation in HTS magnets.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FE989-1452-ABC2-DE08-D8A06C470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EBD79-CB0C-2434-ECE0-2D8D7228E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2" y="1844824"/>
            <a:ext cx="4564889" cy="43924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77CE6-FE4A-4ED3-11E2-4877B9C90A6A}"/>
              </a:ext>
            </a:extLst>
          </p:cNvPr>
          <p:cNvSpPr txBox="1"/>
          <p:nvPr/>
        </p:nvSpPr>
        <p:spPr>
          <a:xfrm>
            <a:off x="179511" y="6192509"/>
            <a:ext cx="1627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(from ARC paper)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B3CFF-4779-5EDE-3B90-5CD2D273FB0F}"/>
              </a:ext>
            </a:extLst>
          </p:cNvPr>
          <p:cNvSpPr txBox="1"/>
          <p:nvPr/>
        </p:nvSpPr>
        <p:spPr>
          <a:xfrm>
            <a:off x="4283968" y="1838722"/>
            <a:ext cx="44644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GulliverRM"/>
              </a:rPr>
              <a:t>The average composition of the winding pack (by area) is: </a:t>
            </a:r>
          </a:p>
          <a:p>
            <a:pPr algn="l"/>
            <a:endParaRPr lang="en-US" dirty="0">
              <a:latin typeface="GulliverRM"/>
            </a:endParaRPr>
          </a:p>
          <a:p>
            <a:pPr algn="l"/>
            <a:r>
              <a:rPr lang="en-US" sz="1800" b="0" i="0" u="none" strike="noStrike" baseline="0" dirty="0">
                <a:latin typeface="GulliverRM"/>
              </a:rPr>
              <a:t>45.9% copper, </a:t>
            </a:r>
          </a:p>
          <a:p>
            <a:pPr algn="l"/>
            <a:r>
              <a:rPr lang="en-US" sz="1800" b="0" i="0" u="none" strike="noStrike" baseline="0" dirty="0">
                <a:latin typeface="GulliverRM"/>
              </a:rPr>
              <a:t>46.1% steel, and </a:t>
            </a:r>
          </a:p>
          <a:p>
            <a:pPr algn="l"/>
            <a:r>
              <a:rPr lang="en-US" sz="1800" b="0" i="0" u="none" strike="noStrike" baseline="0" dirty="0">
                <a:highlight>
                  <a:srgbClr val="FFFF00"/>
                </a:highlight>
                <a:latin typeface="GulliverRM"/>
              </a:rPr>
              <a:t>8.0% REBCO tapes </a:t>
            </a:r>
            <a:r>
              <a:rPr lang="en-US" sz="1800" b="0" i="0" u="none" strike="noStrike" baseline="0" dirty="0">
                <a:latin typeface="GulliverRM"/>
              </a:rPr>
              <a:t>(corresponding to a stack  of 106 REBCO tapes of 12 mm width). 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B15B93-0759-B1EB-3177-BA386F395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98" y="4010671"/>
            <a:ext cx="4300559" cy="202795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63F0C6-573A-5688-F858-C861B2226944}"/>
              </a:ext>
            </a:extLst>
          </p:cNvPr>
          <p:cNvSpPr txBox="1"/>
          <p:nvPr/>
        </p:nvSpPr>
        <p:spPr>
          <a:xfrm>
            <a:off x="4568482" y="6060871"/>
            <a:ext cx="4300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[2021] Conceptual design of HTS magnets for fusion nuclear science facility</a:t>
            </a:r>
          </a:p>
        </p:txBody>
      </p:sp>
    </p:spTree>
    <p:extLst>
      <p:ext uri="{BB962C8B-B14F-4D97-AF65-F5344CB8AC3E}">
        <p14:creationId xmlns:p14="http://schemas.microsoft.com/office/powerpoint/2010/main" val="182503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CD2D-9F4A-A88C-B5FB-D1E57D66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Magnetic Winding Pack – REBCO Tapes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C014D3-4D26-CFFB-FB82-5EE1F9A2F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980728"/>
            <a:ext cx="4503968" cy="33520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DAA9-F1F8-BD83-26AF-25A8C25F5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3191F-EBE7-BEB5-98A0-F2EFA4B25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218" y="980728"/>
            <a:ext cx="4451714" cy="4593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C38144-40C2-22D1-613A-6F3011D95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46" y="4454692"/>
            <a:ext cx="4104456" cy="1510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6D2784-C154-88D5-481A-E82E20EA3FF2}"/>
              </a:ext>
            </a:extLst>
          </p:cNvPr>
          <p:cNvSpPr txBox="1"/>
          <p:nvPr/>
        </p:nvSpPr>
        <p:spPr>
          <a:xfrm>
            <a:off x="179512" y="6087022"/>
            <a:ext cx="6130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333FF"/>
                </a:solidFill>
                <a:highlight>
                  <a:srgbClr val="FFFF00"/>
                </a:highlight>
              </a:rPr>
              <a:t>Magnetic Winding Pack is not solely comprised of REBCO tape</a:t>
            </a:r>
          </a:p>
        </p:txBody>
      </p:sp>
    </p:spTree>
    <p:extLst>
      <p:ext uri="{BB962C8B-B14F-4D97-AF65-F5344CB8AC3E}">
        <p14:creationId xmlns:p14="http://schemas.microsoft.com/office/powerpoint/2010/main" val="337314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53F2-33C7-4A0A-8E87-94AC6E88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B08E-A84A-BAF3-E305-47FCE9A5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procedure was taken to estimate the REBCO quantity (in mass) for </a:t>
            </a:r>
            <a:r>
              <a:rPr lang="en-US" dirty="0" err="1"/>
              <a:t>Hammir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Modelled </a:t>
            </a:r>
            <a:r>
              <a:rPr lang="en-US" dirty="0" err="1"/>
              <a:t>Hammir</a:t>
            </a:r>
            <a:r>
              <a:rPr lang="en-US" dirty="0"/>
              <a:t> (magnetic tandem) using </a:t>
            </a:r>
            <a:r>
              <a:rPr lang="en-US" dirty="0" err="1"/>
              <a:t>Paratan</a:t>
            </a:r>
            <a:endParaRPr lang="en-US" dirty="0"/>
          </a:p>
          <a:p>
            <a:pPr lvl="1"/>
            <a:r>
              <a:rPr lang="en-US" dirty="0"/>
              <a:t>The size for LF coils was assumed as: radial thickness 10 [cm], height 20 [cm]</a:t>
            </a:r>
          </a:p>
          <a:p>
            <a:pPr lvl="2"/>
            <a:r>
              <a:rPr lang="en-US" dirty="0"/>
              <a:t>Bore radius would differ for </a:t>
            </a:r>
            <a:r>
              <a:rPr lang="en-US" dirty="0" err="1"/>
              <a:t>lf</a:t>
            </a:r>
            <a:r>
              <a:rPr lang="en-US" dirty="0"/>
              <a:t> coils placed at core region (plasma) &amp; end-plug regions</a:t>
            </a:r>
          </a:p>
          <a:p>
            <a:pPr lvl="1"/>
            <a:r>
              <a:rPr lang="en-US" dirty="0"/>
              <a:t>The size for HF coils was assumed as: radial thickness 150 [cm], height 150 [cm]</a:t>
            </a:r>
          </a:p>
          <a:p>
            <a:pPr lvl="2"/>
            <a:r>
              <a:rPr lang="en-US" dirty="0"/>
              <a:t>The above values are taken from pre-existing </a:t>
            </a:r>
            <a:r>
              <a:rPr lang="en-US" dirty="0" err="1"/>
              <a:t>Hammir</a:t>
            </a:r>
            <a:r>
              <a:rPr lang="en-US" dirty="0"/>
              <a:t> input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2B02B-E6C8-CF2B-E575-02C5DD9A9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F67822-FE99-7774-64CF-0A92BBC85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48040" y="3400206"/>
            <a:ext cx="2512594" cy="31616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F27177-A6BC-9DF9-B8AC-7AB10FE75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050" y="4219153"/>
            <a:ext cx="5917455" cy="1815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77BD74-8CA8-B540-46D5-27734BB4B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15916" y="-756124"/>
            <a:ext cx="1512168" cy="829681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3A1D2B-7A3C-43D0-9694-82A423385FFE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2195736" y="4421249"/>
            <a:ext cx="434274" cy="5205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40F257B-D517-69CA-E1E8-DA88217110DC}"/>
              </a:ext>
            </a:extLst>
          </p:cNvPr>
          <p:cNvSpPr txBox="1"/>
          <p:nvPr/>
        </p:nvSpPr>
        <p:spPr>
          <a:xfrm>
            <a:off x="91982" y="4082695"/>
            <a:ext cx="507605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Filled with material named ‘Magnetic Winding Pack’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2ADC68-DF4B-C1DF-CE8B-B22890C6869D}"/>
              </a:ext>
            </a:extLst>
          </p:cNvPr>
          <p:cNvSpPr txBox="1"/>
          <p:nvPr/>
        </p:nvSpPr>
        <p:spPr>
          <a:xfrm>
            <a:off x="4801888" y="6035072"/>
            <a:ext cx="5076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LF coil as well filled with ‘Magnetic Winding Pack’</a:t>
            </a:r>
          </a:p>
        </p:txBody>
      </p:sp>
    </p:spTree>
    <p:extLst>
      <p:ext uri="{BB962C8B-B14F-4D97-AF65-F5344CB8AC3E}">
        <p14:creationId xmlns:p14="http://schemas.microsoft.com/office/powerpoint/2010/main" val="360938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111F-16DA-035C-BBB6-9FE85424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4114-9B72-FCD2-E823-981AAFBEC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</a:t>
            </a:r>
            <a:r>
              <a:rPr lang="en-US" dirty="0" err="1"/>
              <a:t>OpenMC</a:t>
            </a:r>
            <a:r>
              <a:rPr lang="en-US" dirty="0"/>
              <a:t> modelling of </a:t>
            </a:r>
            <a:r>
              <a:rPr lang="en-US" dirty="0" err="1"/>
              <a:t>Hammir</a:t>
            </a:r>
            <a:r>
              <a:rPr lang="en-US" dirty="0"/>
              <a:t>, deduce the volume occupied with material named </a:t>
            </a:r>
          </a:p>
          <a:p>
            <a:r>
              <a:rPr lang="en-US" dirty="0"/>
              <a:t>‘Magnetic Winding Pack 2.0’ </a:t>
            </a:r>
          </a:p>
          <a:p>
            <a:pPr lvl="1"/>
            <a:r>
              <a:rPr lang="en-US" dirty="0"/>
              <a:t>Such material is comprised of the following items: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Resembles the REBCO tape configuration, but not the other structural materials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Recall that REBCO tape by itself does not solely comprise the Winding Pack in reality</a:t>
            </a:r>
          </a:p>
          <a:p>
            <a:pPr lvl="1"/>
            <a:r>
              <a:rPr lang="en-US" dirty="0"/>
              <a:t>The net volume of ‘Magnetic Winding Pack 2.0’ for the previous design is 9.28E+07 [cc]</a:t>
            </a:r>
          </a:p>
          <a:p>
            <a:pPr lvl="2"/>
            <a:r>
              <a:rPr lang="en-US" dirty="0"/>
              <a:t>The volume occupied by </a:t>
            </a:r>
            <a:r>
              <a:rPr lang="en-US" dirty="0" err="1"/>
              <a:t>rebco</a:t>
            </a:r>
            <a:r>
              <a:rPr lang="en-US" dirty="0"/>
              <a:t> according to the above table is then 2.44E+06 [cc]</a:t>
            </a:r>
          </a:p>
          <a:p>
            <a:pPr lvl="2"/>
            <a:r>
              <a:rPr lang="en-US" dirty="0"/>
              <a:t>With density value of 6.3 g/cc, yields 15.38 [ton] (!) ---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This approach is invalid!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32645-D5A7-4293-32DF-4DB3BF013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BD1AAE-4AD0-3C80-EB4B-596B99DEFF06}"/>
              </a:ext>
            </a:extLst>
          </p:cNvPr>
          <p:cNvGraphicFramePr>
            <a:graphicFrameLocks noGrp="1"/>
          </p:cNvGraphicFramePr>
          <p:nvPr/>
        </p:nvGraphicFramePr>
        <p:xfrm>
          <a:off x="370168" y="1772816"/>
          <a:ext cx="4752528" cy="25336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912534993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274582089"/>
                    </a:ext>
                  </a:extLst>
                </a:gridCol>
              </a:tblGrid>
              <a:tr h="161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Material Name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Fraction (at %) [-]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164923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copper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1.31E-01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020870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silver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5.25E-02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0162477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rebco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2.63E-02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6985650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lamno3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5.25E-04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6623706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MgO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1.31E-03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9937490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yttrium_oxide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1.31E-04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654915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alumina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5.25E-04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7017903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hastelloy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7.88E-01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6428950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1.00E+00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53459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8C556EC-38C7-11DA-1883-A8129450E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405" y="1268760"/>
            <a:ext cx="3705985" cy="311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6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7973-E5AF-DDD7-A8F9-0B77927E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3EA03-EC18-F129-7CC4-B0CA637ED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 how do we ascertain amount of REBCO being employed in </a:t>
                </a:r>
                <a:r>
                  <a:rPr lang="en-US" dirty="0" err="1"/>
                  <a:t>Hammir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Need to postulate fraction of REBCO Tape within the winding pack, which comprises the HF and LF coils (Value of 0.08 taken from ARC paper).</a:t>
                </a:r>
              </a:p>
              <a:p>
                <a:pPr lvl="1"/>
                <a:r>
                  <a:rPr lang="en-US" dirty="0"/>
                  <a:t>The REBCO tape configuration (including substrate and everything) is assumed to be:</a:t>
                </a:r>
              </a:p>
              <a:p>
                <a:pPr lvl="2"/>
                <a:r>
                  <a:rPr lang="en-US" dirty="0"/>
                  <a:t>Thickness 0.1 [mm] &amp; Width 12 [mm]: Per 1 [km] of REBCO tape ↔ Volume of 1,200 [cc]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Volume occupied by REBCO tape: 0.08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9.28E+07 = 7.43E+06 [cc]</a:t>
                </a:r>
              </a:p>
              <a:p>
                <a:pPr lvl="1"/>
                <a:r>
                  <a:rPr lang="en-US" dirty="0"/>
                  <a:t>The length of REBCO tape would be then 7.43E+06 [cc] ÷ 1.20E+03 [cc/km]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/>
                  <a:t> 6,187 [km]</a:t>
                </a:r>
              </a:p>
              <a:p>
                <a:pPr lvl="2"/>
                <a:r>
                  <a:rPr lang="en-US" dirty="0"/>
                  <a:t>The REBCO tape length for ARC reactor (2015 paper) is given as 5,730 [km]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3EA03-EC18-F129-7CC4-B0CA637ED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884DB-9533-BC37-2495-971FE9C70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B40AF-B921-ACAC-02E2-D6124B6E3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6" y="2287487"/>
            <a:ext cx="4968105" cy="2283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C9D0B8-6391-9231-D2FB-62E389732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491" y="2321223"/>
            <a:ext cx="2775701" cy="23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5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9A02-898C-C91E-C60E-F9ED6AB6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503E3-D22C-EFB0-9E0B-B207F0EF0F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following HF coil configuration was employed for comparison:</a:t>
                </a:r>
              </a:p>
              <a:p>
                <a:pPr lvl="1"/>
                <a:r>
                  <a:rPr lang="en-US" dirty="0"/>
                  <a:t>Retrieved from Samuel Frank, et al., ‘Confinement performance predictions for a high field   axisymmetric tandem mirror’ </a:t>
                </a:r>
                <a:r>
                  <a:rPr lang="pt-BR" dirty="0"/>
                  <a:t>J. Plasma Phys. (2025), vol. 91, E110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Assuming same LF coil configuration, yields total ‘Magnetic Winding Pack 2.0’ volume of        2.11E+07 [cc], which corresponds to REBCO tape length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/>
                  <a:t> 1,406 [km]</a:t>
                </a:r>
              </a:p>
              <a:p>
                <a:pPr lvl="1"/>
                <a:endParaRPr lang="pt-BR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503E3-D22C-EFB0-9E0B-B207F0EF0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35492-C0FE-FABD-1679-70AE56C01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109E0-0304-4293-BB81-AF5FFA037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01" y="1774082"/>
            <a:ext cx="4536504" cy="3572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764FC-D986-40A0-F97E-5F37C9544058}"/>
              </a:ext>
            </a:extLst>
          </p:cNvPr>
          <p:cNvSpPr txBox="1"/>
          <p:nvPr/>
        </p:nvSpPr>
        <p:spPr>
          <a:xfrm>
            <a:off x="4704483" y="2060848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Bore radius: 0.6 [m]</a:t>
            </a:r>
          </a:p>
          <a:p>
            <a:r>
              <a:rPr lang="en-US" sz="1600" dirty="0"/>
              <a:t>Radial thickness: 0.8 [m]</a:t>
            </a:r>
          </a:p>
          <a:p>
            <a:r>
              <a:rPr lang="en-US" sz="1600" dirty="0"/>
              <a:t>Height: 0.5 [m]</a:t>
            </a:r>
          </a:p>
        </p:txBody>
      </p:sp>
    </p:spTree>
    <p:extLst>
      <p:ext uri="{BB962C8B-B14F-4D97-AF65-F5344CB8AC3E}">
        <p14:creationId xmlns:p14="http://schemas.microsoft.com/office/powerpoint/2010/main" val="2213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9F56-8B9C-3920-D19D-A59473FA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DF5F-3221-CDC3-9820-09BE9030D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B.N. </a:t>
            </a:r>
            <a:r>
              <a:rPr lang="en-US" dirty="0" err="1"/>
              <a:t>Sorbom</a:t>
            </a:r>
            <a:r>
              <a:rPr lang="en-US" dirty="0"/>
              <a:t>, et al., ‘ARC: A compact, high-field, fusion nuclear science facility and demo-</a:t>
            </a:r>
            <a:r>
              <a:rPr lang="en-US" dirty="0" err="1"/>
              <a:t>nstration</a:t>
            </a:r>
            <a:r>
              <a:rPr lang="en-US" dirty="0"/>
              <a:t> power plant with demountable magnets’ Fusion Engineering and Design 100 (2015) 378–405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Yuhu</a:t>
            </a:r>
            <a:r>
              <a:rPr lang="en-US" dirty="0"/>
              <a:t> Zhai, et al., ‘Conceptual design of HTS magnets for fusion nuclear science facility ’  Fusion Engineering and Design 168 (2021) 112611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Samuel Frank, et al., ‘Confinement performance predictions for a high field  axisymmetric tandem mirror’ </a:t>
            </a:r>
            <a:r>
              <a:rPr lang="pt-BR" dirty="0"/>
              <a:t>J. Plasma Phys. (2025), vol. 91, E110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C40ED-A6BC-5750-552E-1343822C0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89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32399</TotalTime>
  <Words>1353</Words>
  <Application>Microsoft Office PowerPoint</Application>
  <PresentationFormat>화면 슬라이드 쇼(4:3)</PresentationFormat>
  <Paragraphs>221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Euclid</vt:lpstr>
      <vt:lpstr>GulliverRM</vt:lpstr>
      <vt:lpstr>맑은 고딕</vt:lpstr>
      <vt:lpstr>Aptos Narrow</vt:lpstr>
      <vt:lpstr>Arial</vt:lpstr>
      <vt:lpstr>Book Antiqua</vt:lpstr>
      <vt:lpstr>Cambria Math</vt:lpstr>
      <vt:lpstr>Times New Roman</vt:lpstr>
      <vt:lpstr>RDTL_PPT_Template_(20%_cooler)</vt:lpstr>
      <vt:lpstr>Design Overview – Hammir</vt:lpstr>
      <vt:lpstr>Design Overview – Hammir</vt:lpstr>
      <vt:lpstr>Design Overview – Hammir</vt:lpstr>
      <vt:lpstr>Design Overview – Hammir</vt:lpstr>
      <vt:lpstr>Design Overview – Hammir</vt:lpstr>
      <vt:lpstr>Magnetic Winding Pack – REBCO Tapes</vt:lpstr>
      <vt:lpstr>Magnetic Winding Pack – REBCO Tapes</vt:lpstr>
      <vt:lpstr>Magnetic Winding Pack – REBCO Tapes</vt:lpstr>
      <vt:lpstr>REBCO in Hammir?</vt:lpstr>
      <vt:lpstr>REBCO in Hammir?</vt:lpstr>
      <vt:lpstr>REBCO in Hammir?</vt:lpstr>
      <vt:lpstr>REBCO in Hammir?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790</cp:revision>
  <cp:lastPrinted>2014-09-26T06:44:14Z</cp:lastPrinted>
  <dcterms:created xsi:type="dcterms:W3CDTF">2013-05-26T12:21:08Z</dcterms:created>
  <dcterms:modified xsi:type="dcterms:W3CDTF">2026-06-11T20:38:24Z</dcterms:modified>
</cp:coreProperties>
</file>