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0"/>
  </p:notesMasterIdLst>
  <p:handoutMasterIdLst>
    <p:handoutMasterId r:id="rId11"/>
  </p:handoutMasterIdLst>
  <p:sldIdLst>
    <p:sldId id="259" r:id="rId2"/>
    <p:sldId id="257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9855200" cy="6718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8" autoAdjust="0"/>
    <p:restoredTop sz="96391" autoAdjust="0"/>
  </p:normalViewPr>
  <p:slideViewPr>
    <p:cSldViewPr>
      <p:cViewPr varScale="1">
        <p:scale>
          <a:sx n="117" d="100"/>
          <a:sy n="117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1978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r">
              <a:defRPr sz="1200"/>
            </a:lvl1pPr>
          </a:lstStyle>
          <a:p>
            <a:fld id="{27258BA9-DBB3-4D84-9191-530C08055F7E}" type="datetimeFigureOut">
              <a:rPr lang="ko-KR" altLang="en-US" smtClean="0"/>
              <a:pPr/>
              <a:t>2026-06-16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1978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r">
              <a:defRPr sz="1200"/>
            </a:lvl1pPr>
          </a:lstStyle>
          <a:p>
            <a:fld id="{6FBBE626-B9E8-4350-B5B1-D28E837690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30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2460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r">
              <a:defRPr sz="1200"/>
            </a:lvl1pPr>
          </a:lstStyle>
          <a:p>
            <a:fld id="{AE5F3A91-6DFA-4AFD-9BD4-D380FF353972}" type="datetimeFigureOut">
              <a:rPr lang="ko-KR" altLang="en-US" smtClean="0"/>
              <a:pPr/>
              <a:t>2026-06-16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48025" y="503238"/>
            <a:ext cx="3359150" cy="2519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08" tIns="45304" rIns="90608" bIns="4530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048" y="3191272"/>
            <a:ext cx="7885105" cy="3023392"/>
          </a:xfrm>
          <a:prstGeom prst="rect">
            <a:avLst/>
          </a:prstGeom>
        </p:spPr>
        <p:txBody>
          <a:bodyPr vert="horz" lIns="90608" tIns="45304" rIns="90608" bIns="4530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2460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r">
              <a:defRPr sz="1200"/>
            </a:lvl1pPr>
          </a:lstStyle>
          <a:p>
            <a:fld id="{9B2C5185-B6F1-43AC-B74F-79C86D7624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2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648"/>
            <a:ext cx="9144000" cy="230425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33056"/>
            <a:ext cx="6400800" cy="24482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4" name="Picture 2" descr="uw-madison-logo-flush-web">
            <a:extLst>
              <a:ext uri="{FF2B5EF4-FFF2-40B4-BE49-F238E27FC236}">
                <a16:creationId xmlns:a16="http://schemas.microsoft.com/office/drawing/2014/main" id="{97466EF4-B812-236C-C50D-802EDBFCE7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2880320" cy="96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43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>
                <a:solidFill>
                  <a:schemeClr val="tx1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직선 연결선 7"/>
          <p:cNvCxnSpPr/>
          <p:nvPr/>
        </p:nvCxnSpPr>
        <p:spPr>
          <a:xfrm>
            <a:off x="0" y="6532359"/>
            <a:ext cx="91440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09AF99D-5208-C60B-D6A2-8DF1DA02E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6" y="6560636"/>
            <a:ext cx="3185780" cy="2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buFont typeface="Euclid" pitchFamily="18" charset="0"/>
              <a:buChar char=" "/>
              <a:defRPr sz="2000" b="1">
                <a:solidFill>
                  <a:srgbClr val="0070C0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defRPr sz="18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buFont typeface="Arial" pitchFamily="34" charset="0"/>
              <a:buChar char="•"/>
              <a:defRPr sz="18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defRPr sz="18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defRPr sz="1800" b="0">
                <a:latin typeface="Book Antiqua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3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63688" y="6542307"/>
            <a:ext cx="5832648" cy="31569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FBA6B-78D0-4578-9319-9A333DB64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8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506" y="0"/>
            <a:ext cx="8928992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6" y="980728"/>
            <a:ext cx="892899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192" y="6570500"/>
            <a:ext cx="1368152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1" y="6549622"/>
            <a:ext cx="1053480" cy="316800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+mn-lt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  <p:sldLayoutId id="2147483738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FE1F4-0EEF-40D9-9F64-A8899615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Lithium-6 Consumption Issue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41DFFE-0196-86E2-0421-E837F4943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papers explicitly discuss about replenishing Lithium-6, whereas others don’t</a:t>
            </a:r>
          </a:p>
          <a:p>
            <a:pPr lvl="1"/>
            <a:r>
              <a:rPr lang="en-US" dirty="0"/>
              <a:t>Each D–T fusion reaction releases 17.6 MeV</a:t>
            </a:r>
          </a:p>
          <a:p>
            <a:pPr lvl="2"/>
            <a:r>
              <a:rPr lang="en-US" dirty="0"/>
              <a:t>Corresponds to 2.82E-12 J/reaction</a:t>
            </a:r>
          </a:p>
          <a:p>
            <a:pPr lvl="2"/>
            <a:r>
              <a:rPr lang="en-US" dirty="0"/>
              <a:t>One neutron is produced per fusion reaction</a:t>
            </a:r>
          </a:p>
          <a:p>
            <a:pPr lvl="1"/>
            <a:r>
              <a:rPr lang="en-US" dirty="0"/>
              <a:t>Ideally, one neutron breeds one tritium atom</a:t>
            </a:r>
          </a:p>
          <a:p>
            <a:pPr lvl="2"/>
            <a:r>
              <a:rPr lang="en-US" dirty="0"/>
              <a:t>one Li-6 atom is consumed per fusion reaction  (neglect contribution from Li-7)</a:t>
            </a:r>
          </a:p>
          <a:p>
            <a:pPr lvl="1"/>
            <a:endParaRPr lang="en-US" dirty="0"/>
          </a:p>
          <a:p>
            <a:r>
              <a:rPr lang="en-US" dirty="0"/>
              <a:t>For a thermal power of </a:t>
            </a:r>
            <a:r>
              <a:rPr lang="en-US" dirty="0">
                <a:highlight>
                  <a:srgbClr val="FFFF00"/>
                </a:highlight>
              </a:rPr>
              <a:t>1 </a:t>
            </a:r>
            <a:r>
              <a:rPr lang="en-US" dirty="0" err="1">
                <a:highlight>
                  <a:srgbClr val="FFFF00"/>
                </a:highlight>
              </a:rPr>
              <a:t>GWth</a:t>
            </a:r>
            <a:r>
              <a:rPr lang="en-US" dirty="0"/>
              <a:t>: requires 3.55E+20 reactions/s</a:t>
            </a:r>
          </a:p>
          <a:p>
            <a:pPr lvl="1"/>
            <a:r>
              <a:rPr lang="en-US" dirty="0"/>
              <a:t>The same amount of Li-6 is consumed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Corresponds to about 110 kg/year of Li-6 consumption</a:t>
            </a:r>
          </a:p>
          <a:p>
            <a:pPr lvl="2"/>
            <a:endParaRPr lang="en-US" dirty="0"/>
          </a:p>
          <a:p>
            <a:r>
              <a:rPr lang="en-US" dirty="0"/>
              <a:t>We note that establishing nuclear-grade supply chains is non-trivial for a range of materials</a:t>
            </a:r>
          </a:p>
          <a:p>
            <a:pPr lvl="1"/>
            <a:r>
              <a:rPr lang="en-US" dirty="0"/>
              <a:t>including structural components such as vanadium, due to quality control requirements and the need to scale production processes. </a:t>
            </a:r>
          </a:p>
          <a:p>
            <a:pPr lvl="1"/>
            <a:r>
              <a:rPr lang="en-US" dirty="0"/>
              <a:t>In this context, the supply chain related to the hardest material (e.g., </a:t>
            </a:r>
            <a:r>
              <a:rPr lang="en-US" dirty="0" err="1"/>
              <a:t>FLiBe</a:t>
            </a:r>
            <a:r>
              <a:rPr lang="en-US" dirty="0"/>
              <a:t>) to procure can be viewed as a representative limiting case, as it tends to combine multiple challenges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DAD40-472C-B166-0D29-163E88743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6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Candidate #01: ARC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6" y="2977127"/>
            <a:ext cx="8928992" cy="3523159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Vanadium is employed for 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 periodically replaced and (ii) initial deployment materials</a:t>
            </a:r>
          </a:p>
          <a:p>
            <a:pPr lvl="1"/>
            <a:r>
              <a:rPr lang="en-US" altLang="ko-KR" sz="1400" dirty="0"/>
              <a:t>Assume the same volume from the table, in which Inconel718 is occupying.</a:t>
            </a:r>
          </a:p>
          <a:p>
            <a:endParaRPr lang="en-US" sz="1400" dirty="0"/>
          </a:p>
          <a:p>
            <a:r>
              <a:rPr lang="en-US" sz="1400" dirty="0">
                <a:highlight>
                  <a:srgbClr val="FFFF00"/>
                </a:highlight>
              </a:rPr>
              <a:t>Lithium-6 enrichment of 90 a/o </a:t>
            </a:r>
            <a:r>
              <a:rPr lang="en-US" sz="1400" dirty="0"/>
              <a:t>considered for ARC</a:t>
            </a:r>
          </a:p>
          <a:p>
            <a:pPr lvl="1"/>
            <a:r>
              <a:rPr lang="en-US" sz="1400" dirty="0"/>
              <a:t>Out of 958 tons of </a:t>
            </a:r>
            <a:r>
              <a:rPr lang="en-US" sz="1400" dirty="0" err="1"/>
              <a:t>FLiBe</a:t>
            </a:r>
            <a:r>
              <a:rPr lang="en-US" sz="1400" dirty="0"/>
              <a:t>, weight fraction of Be is about 9.26% and Lithium is about 13.84%</a:t>
            </a:r>
          </a:p>
          <a:p>
            <a:pPr lvl="2"/>
            <a:r>
              <a:rPr lang="en-US" sz="1400" dirty="0"/>
              <a:t>Required mass of Be is about 88.7 tons</a:t>
            </a:r>
          </a:p>
          <a:p>
            <a:pPr lvl="2"/>
            <a:r>
              <a:rPr lang="en-US" sz="1400" dirty="0"/>
              <a:t>Required mass of Lithium (including both Li-6 and Li-7) is about 132.6 tons (</a:t>
            </a:r>
            <a:r>
              <a:rPr lang="en-US" sz="1400" dirty="0">
                <a:highlight>
                  <a:srgbClr val="FFFF00"/>
                </a:highlight>
              </a:rPr>
              <a:t>Li-6: 119.34 t</a:t>
            </a:r>
            <a:r>
              <a:rPr lang="en-US" sz="1400" dirty="0"/>
              <a:t>)</a:t>
            </a:r>
          </a:p>
          <a:p>
            <a:pPr lvl="2"/>
            <a:endParaRPr lang="en-US" altLang="ko-KR" sz="1400" dirty="0"/>
          </a:p>
          <a:p>
            <a:r>
              <a:rPr lang="en-US" sz="1400" dirty="0"/>
              <a:t>The required REBCO tape is about 5,730 km </a:t>
            </a:r>
          </a:p>
          <a:p>
            <a:endParaRPr lang="en-US" sz="1400" dirty="0"/>
          </a:p>
          <a:p>
            <a:r>
              <a:rPr lang="en-US" sz="1400" dirty="0"/>
              <a:t>Fusion Power of 525 </a:t>
            </a:r>
            <a:r>
              <a:rPr lang="en-US" sz="1400" dirty="0" err="1"/>
              <a:t>MWth</a:t>
            </a:r>
            <a:r>
              <a:rPr lang="en-US" sz="1400" dirty="0"/>
              <a:t> (Net electricity power of 190 MWe)</a:t>
            </a:r>
          </a:p>
          <a:p>
            <a:pPr lvl="1"/>
            <a:r>
              <a:rPr lang="en-US" sz="1400" dirty="0"/>
              <a:t>Approximately 57.8 kg/year of Li-6 consumption (</a:t>
            </a:r>
            <a:r>
              <a:rPr lang="en-US" sz="1400" dirty="0">
                <a:highlight>
                  <a:srgbClr val="FFFF00"/>
                </a:highlight>
              </a:rPr>
              <a:t>50 years operation ~ 2.9 tons)</a:t>
            </a:r>
            <a:endParaRPr lang="en-US" sz="1400" dirty="0"/>
          </a:p>
          <a:p>
            <a:endParaRPr lang="en-US" sz="1400" dirty="0"/>
          </a:p>
          <a:p>
            <a:pPr lvl="1"/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1B907E2-F58D-AC7F-10F4-B5E2CD69D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035217"/>
              </p:ext>
            </p:extLst>
          </p:nvPr>
        </p:nvGraphicFramePr>
        <p:xfrm>
          <a:off x="241877" y="692696"/>
          <a:ext cx="8778242" cy="1920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45437">
                  <a:extLst>
                    <a:ext uri="{9D8B030D-6E8A-4147-A177-3AD203B41FA5}">
                      <a16:colId xmlns:a16="http://schemas.microsoft.com/office/drawing/2014/main" val="3532285295"/>
                    </a:ext>
                  </a:extLst>
                </a:gridCol>
                <a:gridCol w="2630550">
                  <a:extLst>
                    <a:ext uri="{9D8B030D-6E8A-4147-A177-3AD203B41FA5}">
                      <a16:colId xmlns:a16="http://schemas.microsoft.com/office/drawing/2014/main" val="1972827725"/>
                    </a:ext>
                  </a:extLst>
                </a:gridCol>
                <a:gridCol w="3702255">
                  <a:extLst>
                    <a:ext uri="{9D8B030D-6E8A-4147-A177-3AD203B41FA5}">
                      <a16:colId xmlns:a16="http://schemas.microsoft.com/office/drawing/2014/main" val="278136567"/>
                    </a:ext>
                  </a:extLst>
                </a:gridCol>
              </a:tblGrid>
              <a:tr h="153243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Material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Weight [tons]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Replacement Period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8344365"/>
                  </a:ext>
                </a:extLst>
              </a:tr>
              <a:tr h="153243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Tungsten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3.72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6-12 month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5957692"/>
                  </a:ext>
                </a:extLst>
              </a:tr>
              <a:tr h="153243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Vanadium</a:t>
                      </a:r>
                      <a:r>
                        <a:rPr lang="en-US" sz="1400" baseline="30000"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58.3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6-12 month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93581"/>
                  </a:ext>
                </a:extLst>
              </a:tr>
              <a:tr h="153243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Beryllium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3.82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5-9 years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5026594"/>
                  </a:ext>
                </a:extLst>
              </a:tr>
              <a:tr h="153243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TiH</a:t>
                      </a:r>
                      <a:r>
                        <a:rPr lang="en-US" sz="1400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380.18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5-9 years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0018293"/>
                  </a:ext>
                </a:extLst>
              </a:tr>
              <a:tr h="153243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</a:rPr>
                        <a:t>FLiBe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</a:rPr>
                        <a:t>958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</a:rPr>
                        <a:t>Steady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8859148"/>
                  </a:ext>
                </a:extLst>
              </a:tr>
              <a:tr h="153243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SS316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5,300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Steady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9208991"/>
                  </a:ext>
                </a:extLst>
              </a:tr>
              <a:tr h="153243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Copper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358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Steady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20081"/>
                  </a:ext>
                </a:extLst>
              </a:tr>
              <a:tr h="153243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Vanadium</a:t>
                      </a:r>
                      <a:r>
                        <a:rPr lang="en-US" sz="1400" baseline="30000">
                          <a:solidFill>
                            <a:schemeClr val="tx1"/>
                          </a:solidFill>
                          <a:effectLst/>
                        </a:rPr>
                        <a:t>**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71.4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Steady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02068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5647F0-0DD4-2F42-F513-64865CAEDFC4}"/>
              </a:ext>
            </a:extLst>
          </p:cNvPr>
          <p:cNvSpPr txBox="1"/>
          <p:nvPr/>
        </p:nvSpPr>
        <p:spPr>
          <a:xfrm>
            <a:off x="107506" y="2656532"/>
            <a:ext cx="67464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27000" algn="just">
              <a:buNone/>
            </a:pPr>
            <a:r>
              <a:rPr lang="en-US" sz="1200" dirty="0">
                <a:effectLst/>
                <a:ea typeface="Malgun Gothic" panose="020B0503020000020004" pitchFamily="34" charset="-127"/>
              </a:rPr>
              <a:t>V</a:t>
            </a:r>
            <a:r>
              <a:rPr lang="en-US" sz="1200" baseline="30000" dirty="0">
                <a:effectLst/>
                <a:ea typeface="Malgun Gothic" panose="020B0503020000020004" pitchFamily="34" charset="-127"/>
              </a:rPr>
              <a:t>*</a:t>
            </a:r>
            <a:r>
              <a:rPr lang="en-US" sz="1200" dirty="0">
                <a:effectLst/>
                <a:ea typeface="Malgun Gothic" panose="020B0503020000020004" pitchFamily="34" charset="-127"/>
              </a:rPr>
              <a:t> is related to vacuum vessels. V</a:t>
            </a:r>
            <a:r>
              <a:rPr lang="en-US" sz="1200" baseline="30000" dirty="0">
                <a:effectLst/>
                <a:ea typeface="Malgun Gothic" panose="020B0503020000020004" pitchFamily="34" charset="-127"/>
              </a:rPr>
              <a:t>**</a:t>
            </a:r>
            <a:r>
              <a:rPr lang="en-US" sz="1200" dirty="0">
                <a:effectLst/>
                <a:ea typeface="Malgun Gothic" panose="020B0503020000020004" pitchFamily="34" charset="-127"/>
              </a:rPr>
              <a:t> is related to blanket tanks.</a:t>
            </a:r>
            <a:endParaRPr lang="en-US" sz="1200" dirty="0">
              <a:effectLst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3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F7AE1-9AF2-030F-1A95-4A3A24B7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Candidate #02: Hammir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C2635-87B5-7858-D52F-AE3505AD5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6" y="4077072"/>
            <a:ext cx="8928992" cy="2423215"/>
          </a:xfrm>
        </p:spPr>
        <p:txBody>
          <a:bodyPr>
            <a:normAutofit lnSpcReduction="10000"/>
          </a:bodyPr>
          <a:lstStyle/>
          <a:p>
            <a:r>
              <a:rPr lang="en-US" sz="1400" dirty="0"/>
              <a:t>Pb (84.3 at%), Li (15.7 at%): </a:t>
            </a:r>
            <a:r>
              <a:rPr lang="en-US" sz="1400" dirty="0">
                <a:highlight>
                  <a:srgbClr val="FFFF00"/>
                </a:highlight>
              </a:rPr>
              <a:t>For a single Hammir </a:t>
            </a:r>
            <a:r>
              <a:rPr lang="en-US" sz="1400" dirty="0" err="1">
                <a:highlight>
                  <a:srgbClr val="FFFF00"/>
                </a:highlight>
              </a:rPr>
              <a:t>PbLi</a:t>
            </a:r>
            <a:r>
              <a:rPr lang="en-US" sz="1400" dirty="0">
                <a:highlight>
                  <a:srgbClr val="FFFF00"/>
                </a:highlight>
              </a:rPr>
              <a:t> = 6,704,200 kg &amp; Enriched Li ≈ 40.2 t </a:t>
            </a:r>
          </a:p>
          <a:p>
            <a:pPr lvl="1"/>
            <a:r>
              <a:rPr lang="en-US" sz="1400" dirty="0"/>
              <a:t>Natural Pb (lead), and </a:t>
            </a:r>
            <a:r>
              <a:rPr lang="en-US" sz="1400" dirty="0">
                <a:highlight>
                  <a:srgbClr val="FFFF00"/>
                </a:highlight>
              </a:rPr>
              <a:t>Li-6 enrichment 30 at% </a:t>
            </a:r>
            <a:r>
              <a:rPr lang="en-US" sz="1400" dirty="0"/>
              <a:t>(Mass Ratio: </a:t>
            </a:r>
            <a:r>
              <a:rPr lang="en-US" sz="1400" dirty="0" err="1"/>
              <a:t>Li_enr</a:t>
            </a:r>
            <a:r>
              <a:rPr lang="en-US" sz="1400" dirty="0"/>
              <a:t> = 0.00598618 / Pb = 0.99401382)</a:t>
            </a:r>
          </a:p>
          <a:p>
            <a:pPr lvl="1"/>
            <a:r>
              <a:rPr lang="en-US" sz="1400" dirty="0"/>
              <a:t>Both </a:t>
            </a:r>
            <a:r>
              <a:rPr lang="en-US" sz="1400" dirty="0" err="1"/>
              <a:t>PbLi</a:t>
            </a:r>
            <a:r>
              <a:rPr lang="en-US" sz="1400" dirty="0"/>
              <a:t> &amp; tungsten boride WB are likely to incur bottleneck issue / Others can be readily procured</a:t>
            </a:r>
          </a:p>
          <a:p>
            <a:pPr lvl="1"/>
            <a:r>
              <a:rPr lang="en-US" sz="1400" dirty="0">
                <a:highlight>
                  <a:srgbClr val="FFFF00"/>
                </a:highlight>
              </a:rPr>
              <a:t>The mass of Li-6 is then around 12 tons </a:t>
            </a:r>
            <a:r>
              <a:rPr lang="en-US" sz="1400" dirty="0"/>
              <a:t>(for deploying Hammir)</a:t>
            </a:r>
          </a:p>
          <a:p>
            <a:pPr lvl="1"/>
            <a:r>
              <a:rPr lang="en-US" sz="1400" dirty="0"/>
              <a:t>The annual Li-6 consumption is around </a:t>
            </a:r>
            <a:r>
              <a:rPr lang="en-US" sz="1400" dirty="0">
                <a:highlight>
                  <a:srgbClr val="FFFF00"/>
                </a:highlight>
              </a:rPr>
              <a:t>38.5 kg/year (50 years: ~ 2 tons)</a:t>
            </a:r>
          </a:p>
          <a:p>
            <a:pPr lvl="1"/>
            <a:endParaRPr lang="en-US" sz="1400" dirty="0">
              <a:highlight>
                <a:srgbClr val="FFFF00"/>
              </a:highlight>
            </a:endParaRPr>
          </a:p>
          <a:p>
            <a:r>
              <a:rPr lang="en-US" sz="1400" dirty="0"/>
              <a:t>The required REBCO tape is about 1,406 km </a:t>
            </a:r>
          </a:p>
          <a:p>
            <a:endParaRPr lang="en-US" sz="1400" dirty="0"/>
          </a:p>
          <a:p>
            <a:r>
              <a:rPr lang="en-US" sz="1400" dirty="0"/>
              <a:t>Fusion power of </a:t>
            </a:r>
            <a:r>
              <a:rPr lang="en-US" sz="1400" dirty="0">
                <a:highlight>
                  <a:srgbClr val="FFFF00"/>
                </a:highlight>
              </a:rPr>
              <a:t>350 </a:t>
            </a:r>
            <a:r>
              <a:rPr lang="en-US" sz="1400" dirty="0" err="1">
                <a:highlight>
                  <a:srgbClr val="FFFF00"/>
                </a:highlight>
              </a:rPr>
              <a:t>MWth</a:t>
            </a:r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en-US" sz="1400" dirty="0"/>
              <a:t>(= Net electricity power of 165 Mwe)</a:t>
            </a:r>
            <a:endParaRPr lang="pt-BR" sz="1400" dirty="0"/>
          </a:p>
          <a:p>
            <a:endParaRPr 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EF2DC-87F6-29E8-556F-13102A757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127A8D23-A193-927F-979E-8AD45AAA50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1827525"/>
              </p:ext>
            </p:extLst>
          </p:nvPr>
        </p:nvGraphicFramePr>
        <p:xfrm>
          <a:off x="258256" y="609029"/>
          <a:ext cx="8778242" cy="33432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64496">
                  <a:extLst>
                    <a:ext uri="{9D8B030D-6E8A-4147-A177-3AD203B41FA5}">
                      <a16:colId xmlns:a16="http://schemas.microsoft.com/office/drawing/2014/main" val="410338466"/>
                    </a:ext>
                  </a:extLst>
                </a:gridCol>
                <a:gridCol w="4313746">
                  <a:extLst>
                    <a:ext uri="{9D8B030D-6E8A-4147-A177-3AD203B41FA5}">
                      <a16:colId xmlns:a16="http://schemas.microsoft.com/office/drawing/2014/main" val="944753189"/>
                    </a:ext>
                  </a:extLst>
                </a:gridCol>
              </a:tblGrid>
              <a:tr h="1368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component_name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mass [ton]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51217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</a:rPr>
                        <a:t>PbLi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6704.20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774980"/>
                  </a:ext>
                </a:extLst>
              </a:tr>
              <a:tr h="1548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tungsten carbide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2280.55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339413"/>
                  </a:ext>
                </a:extLst>
              </a:tr>
              <a:tr h="1548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tungsten boride WB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781.18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231093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Hastelloy C-276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649.75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943205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stainless 304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438.60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008463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Eurofer97 </a:t>
                      </a: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(Includes First Wall Eurofer97 as well)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180.33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401608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Copper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109.14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7768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Silver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51.11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39506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Tungsten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23.57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814344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SS316LN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17.25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02763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Magnesium oxide MgO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790708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LaMnO3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127680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Alumina: Al2O3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662334"/>
                  </a:ext>
                </a:extLst>
              </a:tr>
              <a:tr h="136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Yttrium Oxide: Y2O3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77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65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582FB-8DE3-AD8E-1166-E9AAB0DB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Candidate #03: EU-DEMO Derived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A7578-02A6-41F9-05BE-2E343F975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Two different blanket concepts:</a:t>
            </a:r>
          </a:p>
          <a:p>
            <a:pPr lvl="1"/>
            <a:r>
              <a:rPr lang="en-US" sz="1400" dirty="0"/>
              <a:t>WCLL (Water Cooled Lithium Lead) .vs. HCPB (Helium Cooled Pebble Beds) </a:t>
            </a:r>
          </a:p>
          <a:p>
            <a:pPr lvl="1"/>
            <a:endParaRPr lang="en-US" sz="1400" dirty="0"/>
          </a:p>
          <a:p>
            <a:r>
              <a:rPr lang="en-US" sz="1400" dirty="0"/>
              <a:t>The WCLL concept exploits an eutectic alloy made of liquid Lithium and Lead (Li16-Pb84) </a:t>
            </a:r>
          </a:p>
          <a:p>
            <a:pPr lvl="1"/>
            <a:r>
              <a:rPr lang="en-US" sz="1400" dirty="0"/>
              <a:t>It flows into the breeding zone and acting both as breeding material and neutron multiplier</a:t>
            </a:r>
          </a:p>
          <a:p>
            <a:pPr lvl="1"/>
            <a:r>
              <a:rPr lang="en-US" sz="1400" dirty="0"/>
              <a:t>WCLL structures are actively cooled by water, while Helium is used to extract tritium from the </a:t>
            </a:r>
            <a:r>
              <a:rPr lang="en-US" sz="1400" dirty="0" err="1"/>
              <a:t>LiPb</a:t>
            </a:r>
            <a:r>
              <a:rPr lang="en-US" sz="1400" dirty="0"/>
              <a:t> alloy</a:t>
            </a:r>
          </a:p>
          <a:p>
            <a:pPr lvl="1"/>
            <a:r>
              <a:rPr lang="en-US" sz="1400" dirty="0"/>
              <a:t>Postulates </a:t>
            </a:r>
            <a:r>
              <a:rPr lang="en-US" sz="1400" dirty="0">
                <a:highlight>
                  <a:srgbClr val="FFFF00"/>
                </a:highlight>
              </a:rPr>
              <a:t>90% Li-6 </a:t>
            </a:r>
            <a:r>
              <a:rPr lang="en-US" sz="1400" dirty="0"/>
              <a:t>/ ~ 13.6 times the amount of natural Lithium (kg) per WCLL grade Lithium (kg)</a:t>
            </a:r>
          </a:p>
          <a:p>
            <a:pPr lvl="1"/>
            <a:endParaRPr lang="en-US" sz="1400" dirty="0"/>
          </a:p>
          <a:p>
            <a:r>
              <a:rPr lang="en-US" sz="1400" dirty="0"/>
              <a:t>The HCPB concept uses pebbles out of </a:t>
            </a:r>
            <a:r>
              <a:rPr lang="en-US" sz="1400" dirty="0" err="1">
                <a:highlight>
                  <a:srgbClr val="FFFF00"/>
                </a:highlight>
              </a:rPr>
              <a:t>BeTi</a:t>
            </a:r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en-US" sz="1400" dirty="0"/>
              <a:t>as neutron multiplier and the so-called </a:t>
            </a:r>
            <a:r>
              <a:rPr lang="en-US" sz="1400" dirty="0">
                <a:highlight>
                  <a:srgbClr val="FFFF00"/>
                </a:highlight>
              </a:rPr>
              <a:t>KALOS-ACB pebbles  </a:t>
            </a:r>
          </a:p>
          <a:p>
            <a:r>
              <a:rPr lang="en-US" sz="1400" dirty="0">
                <a:highlight>
                  <a:srgbClr val="FFFF00"/>
                </a:highlight>
              </a:rPr>
              <a:t>[65 %Mol-Li4SiO4 35 %Mol-Li2TiO3] </a:t>
            </a:r>
            <a:r>
              <a:rPr lang="en-US" sz="1400" dirty="0"/>
              <a:t>as breeding material. </a:t>
            </a:r>
          </a:p>
          <a:p>
            <a:pPr lvl="1"/>
            <a:r>
              <a:rPr lang="en-US" sz="1400" dirty="0"/>
              <a:t>Helium is exploited both as cooling fluid for structures and for purging of tritium.</a:t>
            </a:r>
          </a:p>
          <a:p>
            <a:pPr lvl="1"/>
            <a:r>
              <a:rPr lang="en-US" sz="1400" dirty="0"/>
              <a:t>Total Lithium in KALOS-ACB is about 18.5 </a:t>
            </a:r>
            <a:r>
              <a:rPr lang="en-US" sz="1400" dirty="0" err="1"/>
              <a:t>wt</a:t>
            </a:r>
            <a:r>
              <a:rPr lang="en-US" sz="1400" dirty="0"/>
              <a:t>% / ~30 tons of enriched Li (</a:t>
            </a:r>
            <a:r>
              <a:rPr lang="en-US" sz="1400" dirty="0">
                <a:highlight>
                  <a:srgbClr val="FFFF00"/>
                </a:highlight>
              </a:rPr>
              <a:t>Li-6 60 %)</a:t>
            </a:r>
          </a:p>
          <a:p>
            <a:pPr lvl="1"/>
            <a:r>
              <a:rPr lang="en-US" sz="1400" dirty="0"/>
              <a:t>Approximately 9 times the amount of natural Lithium (kg) per WCLL grade Lithium (kg)</a:t>
            </a:r>
          </a:p>
          <a:p>
            <a:pPr lvl="1"/>
            <a:r>
              <a:rPr lang="en-US" sz="1400" b="1" dirty="0">
                <a:solidFill>
                  <a:srgbClr val="FF0000"/>
                </a:solidFill>
              </a:rPr>
              <a:t>VERY LIMITED INFORMATION FOR </a:t>
            </a:r>
            <a:r>
              <a:rPr lang="en-US" sz="1400" b="1" dirty="0" err="1">
                <a:solidFill>
                  <a:srgbClr val="FF0000"/>
                </a:solidFill>
              </a:rPr>
              <a:t>BeTi</a:t>
            </a:r>
            <a:r>
              <a:rPr lang="en-US" sz="1400" b="1" dirty="0">
                <a:solidFill>
                  <a:srgbClr val="FF0000"/>
                </a:solidFill>
              </a:rPr>
              <a:t> Production</a:t>
            </a:r>
          </a:p>
          <a:p>
            <a:pPr lvl="1"/>
            <a:endParaRPr lang="en-US" sz="1400" dirty="0"/>
          </a:p>
          <a:p>
            <a:r>
              <a:rPr lang="en-US" sz="1400" dirty="0"/>
              <a:t>For both the HCPB and WCLL concepts, fusion specific reduced activation ferritic martensitic (RAFM) steel, EUROFER, is currently considered the preferred structural material</a:t>
            </a:r>
          </a:p>
          <a:p>
            <a:endParaRPr 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C17A8-4C32-24E5-6518-222262637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53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6565E-134F-C476-358E-B71CA843C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Candidate #03: EU-DEMO Derived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B1345D8-40A6-3C4D-7685-7598ECC483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400" dirty="0">
                    <a:highlight>
                      <a:srgbClr val="FFFF00"/>
                    </a:highlight>
                  </a:rPr>
                  <a:t>[EU-DEMO WCLL Concept]</a:t>
                </a:r>
              </a:p>
              <a:p>
                <a:pPr lvl="1"/>
                <a:r>
                  <a:rPr lang="en-US" sz="1400" dirty="0"/>
                  <a:t>Thermal power of 5.0 </a:t>
                </a:r>
                <a:r>
                  <a:rPr lang="en-US" sz="1400" dirty="0" err="1"/>
                  <a:t>GWth</a:t>
                </a:r>
                <a:r>
                  <a:rPr lang="en-US" sz="1400" dirty="0"/>
                  <a:t> / Consumes 550 [kg/year] of Lithium-6</a:t>
                </a:r>
              </a:p>
              <a:p>
                <a:pPr lvl="2"/>
                <a:r>
                  <a:rPr lang="en-US" sz="1400" dirty="0"/>
                  <a:t>For deployment 24,371 tons of </a:t>
                </a:r>
                <a:r>
                  <a:rPr lang="en-US" sz="1400" dirty="0" err="1"/>
                  <a:t>PbLi</a:t>
                </a:r>
                <a:r>
                  <a:rPr lang="en-US" sz="1400" dirty="0"/>
                  <a:t> / Lithium (90%) 133.4 tons / Li-6: 120 tons </a:t>
                </a:r>
              </a:p>
              <a:p>
                <a:pPr lvl="2"/>
                <a:r>
                  <a:rPr lang="en-US" sz="1400" strike="sngStrike" dirty="0">
                    <a:solidFill>
                      <a:srgbClr val="FF0000"/>
                    </a:solidFill>
                  </a:rPr>
                  <a:t>Nb3Sn: 500 tons </a:t>
                </a:r>
                <a14:m>
                  <m:oMath xmlns:m="http://schemas.openxmlformats.org/officeDocument/2006/math">
                    <m:r>
                      <a:rPr lang="en-US" sz="14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400" strike="sngStrike" dirty="0">
                    <a:solidFill>
                      <a:srgbClr val="FF0000"/>
                    </a:solidFill>
                  </a:rPr>
                  <a:t> 2.57 = 1,285 tons &amp; REBCO: 600 km </a:t>
                </a:r>
                <a14:m>
                  <m:oMath xmlns:m="http://schemas.openxmlformats.org/officeDocument/2006/math">
                    <m:r>
                      <a:rPr lang="en-US" sz="1400" i="1" strike="sngStrike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400" strike="sngStrike" dirty="0">
                    <a:solidFill>
                      <a:srgbClr val="FF0000"/>
                    </a:solidFill>
                  </a:rPr>
                  <a:t> 2.57 = 1,542 [km]</a:t>
                </a:r>
              </a:p>
              <a:p>
                <a:pPr lvl="2"/>
                <a:r>
                  <a:rPr lang="en-US" sz="1400" dirty="0"/>
                  <a:t>Nb3Sn: 500 tons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400" dirty="0"/>
                  <a:t> 1.19 = 595 tons &amp; REBCO: 600 km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400" dirty="0"/>
                  <a:t> 1.19 = 714 [km]</a:t>
                </a:r>
              </a:p>
              <a:p>
                <a:pPr lvl="1"/>
                <a:r>
                  <a:rPr lang="en-US" sz="1400" dirty="0"/>
                  <a:t>For modelling (in </a:t>
                </a:r>
                <a:r>
                  <a:rPr lang="en-US" sz="1400" dirty="0" err="1"/>
                  <a:t>Cyclus</a:t>
                </a:r>
                <a:r>
                  <a:rPr lang="en-US" sz="1400" dirty="0"/>
                  <a:t>), consider (1) Enriched Lithium, (2) Nb3Sn, (3) REBCO</a:t>
                </a:r>
              </a:p>
              <a:p>
                <a:endParaRPr lang="en-US" sz="1400" dirty="0"/>
              </a:p>
              <a:p>
                <a:r>
                  <a:rPr lang="en-US" sz="1400" dirty="0">
                    <a:highlight>
                      <a:srgbClr val="FFFF00"/>
                    </a:highlight>
                  </a:rPr>
                  <a:t>[EU-DEMO HCPB Concept]</a:t>
                </a:r>
              </a:p>
              <a:p>
                <a:pPr lvl="1"/>
                <a:r>
                  <a:rPr lang="en-US" sz="1400" dirty="0"/>
                  <a:t>Thermal power of 3.6 </a:t>
                </a:r>
                <a:r>
                  <a:rPr lang="en-US" sz="1400" dirty="0" err="1"/>
                  <a:t>GWth</a:t>
                </a:r>
                <a:r>
                  <a:rPr lang="en-US" sz="1400" dirty="0"/>
                  <a:t> / Consumes 396 [kg/year] of Lithium-6</a:t>
                </a:r>
              </a:p>
              <a:p>
                <a:pPr lvl="2"/>
                <a:r>
                  <a:rPr lang="en-US" sz="1400" dirty="0"/>
                  <a:t>For deployment 296 tons of KALOS-ACB / Lithium (60%) 56 tons / Li-6: 33.6 tons</a:t>
                </a:r>
              </a:p>
              <a:p>
                <a:pPr lvl="2"/>
                <a:r>
                  <a:rPr lang="en-US" sz="1400" dirty="0"/>
                  <a:t>Nb3Sn: 500 tons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400" dirty="0"/>
                  <a:t> 1.85 = 925 tons &amp; REBCO: 600 km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400" dirty="0"/>
                  <a:t> 1.85 = 1,110 [km]</a:t>
                </a:r>
              </a:p>
              <a:p>
                <a:pPr lvl="2"/>
                <a:r>
                  <a:rPr lang="en-US" sz="1400" dirty="0" err="1"/>
                  <a:t>BeTi</a:t>
                </a:r>
                <a:r>
                  <a:rPr lang="en-US" sz="1400" dirty="0"/>
                  <a:t>: 613 tons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400" dirty="0"/>
                  <a:t> 1.85 = 1,134 tons (Includes 787 tons of Be) / For every 10 yrs, 196 tons of Be replenished</a:t>
                </a:r>
              </a:p>
              <a:p>
                <a:pPr lvl="1"/>
                <a:r>
                  <a:rPr lang="en-US" sz="1400" dirty="0"/>
                  <a:t>For modelling (in </a:t>
                </a:r>
                <a:r>
                  <a:rPr lang="en-US" sz="1400" dirty="0" err="1"/>
                  <a:t>Cyclus</a:t>
                </a:r>
                <a:r>
                  <a:rPr lang="en-US" sz="1400" dirty="0"/>
                  <a:t>), consider (1) Enriched Lithium, (2) Nb3Sn, (3) REBCO, (4) </a:t>
                </a:r>
                <a:r>
                  <a:rPr lang="en-US" sz="1400" dirty="0" err="1"/>
                  <a:t>BeTi</a:t>
                </a:r>
                <a:endParaRPr lang="en-US" sz="1400" dirty="0"/>
              </a:p>
              <a:p>
                <a:pPr lvl="2"/>
                <a:endParaRPr lang="en-US" sz="1400" dirty="0"/>
              </a:p>
              <a:p>
                <a:r>
                  <a:rPr lang="en-US" sz="1400" dirty="0"/>
                  <a:t>Note that (due to lack of info) EUROFER modelling is neglected for all design concepts</a:t>
                </a:r>
              </a:p>
              <a:p>
                <a:pPr lvl="1"/>
                <a:r>
                  <a:rPr lang="en-US" sz="1400" dirty="0"/>
                  <a:t>We assume enough EUROFER for all design concepts (including ARC, </a:t>
                </a:r>
                <a:r>
                  <a:rPr lang="en-US" sz="1400" dirty="0" err="1"/>
                  <a:t>Hammir</a:t>
                </a:r>
                <a:r>
                  <a:rPr lang="en-US" sz="1400" dirty="0"/>
                  <a:t>)</a:t>
                </a:r>
              </a:p>
              <a:p>
                <a:pPr lvl="1"/>
                <a:endParaRPr lang="en-US" sz="1400" dirty="0"/>
              </a:p>
              <a:p>
                <a:pPr lvl="1"/>
                <a:endParaRPr lang="en-US" sz="1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B1345D8-40A6-3C4D-7685-7598ECC483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D095E-0A0E-4CD2-DA6E-3BF80DF48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25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FFA4A-3C38-EFED-CB3C-4B009E81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Candidate #03: EU-DEMO Derived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D5703-6F92-4903-18C1-A22A8AF67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80BD0A6-5337-E1B7-48A3-0DDAD815F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932714"/>
              </p:ext>
            </p:extLst>
          </p:nvPr>
        </p:nvGraphicFramePr>
        <p:xfrm>
          <a:off x="218883" y="1052736"/>
          <a:ext cx="8706234" cy="6686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27873">
                  <a:extLst>
                    <a:ext uri="{9D8B030D-6E8A-4147-A177-3AD203B41FA5}">
                      <a16:colId xmlns:a16="http://schemas.microsoft.com/office/drawing/2014/main" val="506628415"/>
                    </a:ext>
                  </a:extLst>
                </a:gridCol>
                <a:gridCol w="4278361">
                  <a:extLst>
                    <a:ext uri="{9D8B030D-6E8A-4147-A177-3AD203B41FA5}">
                      <a16:colId xmlns:a16="http://schemas.microsoft.com/office/drawing/2014/main" val="1628585378"/>
                    </a:ext>
                  </a:extLst>
                </a:gridCol>
              </a:tblGrid>
              <a:tr h="1368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component_name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mass [ton]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569927"/>
                  </a:ext>
                </a:extLst>
              </a:tr>
              <a:tr h="557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PbLi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24,371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753932"/>
                  </a:ext>
                </a:extLst>
              </a:tr>
              <a:tr h="1671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/>
                        <a:t>Nb3Sn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67750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2CFDE33-C18E-253E-3DBD-F8748DD34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370951"/>
              </p:ext>
            </p:extLst>
          </p:nvPr>
        </p:nvGraphicFramePr>
        <p:xfrm>
          <a:off x="218883" y="2983230"/>
          <a:ext cx="8706233" cy="8915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27873">
                  <a:extLst>
                    <a:ext uri="{9D8B030D-6E8A-4147-A177-3AD203B41FA5}">
                      <a16:colId xmlns:a16="http://schemas.microsoft.com/office/drawing/2014/main" val="506628415"/>
                    </a:ext>
                  </a:extLst>
                </a:gridCol>
                <a:gridCol w="4278360">
                  <a:extLst>
                    <a:ext uri="{9D8B030D-6E8A-4147-A177-3AD203B41FA5}">
                      <a16:colId xmlns:a16="http://schemas.microsoft.com/office/drawing/2014/main" val="1628585378"/>
                    </a:ext>
                  </a:extLst>
                </a:gridCol>
              </a:tblGrid>
              <a:tr h="1368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effectLst/>
                        </a:rPr>
                        <a:t>component_name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mass [ton]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569927"/>
                  </a:ext>
                </a:extLst>
              </a:tr>
              <a:tr h="557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/>
                        <a:t>KALOS-ACB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/>
                        <a:t>296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753932"/>
                  </a:ext>
                </a:extLst>
              </a:tr>
              <a:tr h="1114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/>
                        <a:t>Nb3Sn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925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67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BeTi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/>
                        <a:t>1,134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35821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A59D5F2-93B0-3BAA-DDD4-1A7D52801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>
            <a:normAutofit/>
          </a:bodyPr>
          <a:lstStyle/>
          <a:p>
            <a:r>
              <a:rPr lang="en-US" sz="1400" dirty="0"/>
              <a:t>EU-DEMO WCLL Concept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lvl="1"/>
            <a:r>
              <a:rPr lang="en-US" sz="1400" dirty="0"/>
              <a:t>Thermal power of 5.0 </a:t>
            </a:r>
            <a:r>
              <a:rPr lang="en-US" sz="1400" dirty="0" err="1"/>
              <a:t>GWth</a:t>
            </a:r>
            <a:r>
              <a:rPr lang="en-US" sz="1400" dirty="0"/>
              <a:t> [1.55 </a:t>
            </a:r>
            <a:r>
              <a:rPr lang="en-US" sz="1400" dirty="0" err="1"/>
              <a:t>GWe</a:t>
            </a:r>
            <a:r>
              <a:rPr lang="en-US" sz="1400" dirty="0"/>
              <a:t>] / Consumes 550 [kg/year] of Lithium-6 </a:t>
            </a:r>
          </a:p>
          <a:p>
            <a:pPr lvl="1"/>
            <a:r>
              <a:rPr lang="en-US" sz="1400" dirty="0"/>
              <a:t>REBCO tape: 714 [km] / Lithium (90%) 133.4 tons (Li-6: 120 tons) </a:t>
            </a:r>
          </a:p>
          <a:p>
            <a:pPr lvl="1"/>
            <a:endParaRPr lang="en-US" sz="1400" dirty="0"/>
          </a:p>
          <a:p>
            <a:r>
              <a:rPr lang="en-US" sz="1400" dirty="0"/>
              <a:t>EU-DEMO HCPB Concept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lvl="1"/>
            <a:r>
              <a:rPr lang="en-US" sz="1400" dirty="0"/>
              <a:t>Thermal power of 3.6 </a:t>
            </a:r>
            <a:r>
              <a:rPr lang="en-US" sz="1400" dirty="0" err="1"/>
              <a:t>GWth</a:t>
            </a:r>
            <a:r>
              <a:rPr lang="en-US" sz="1400" dirty="0"/>
              <a:t> / Consumes 396 [kg/year] of Lithium-6 </a:t>
            </a:r>
          </a:p>
          <a:p>
            <a:pPr lvl="1"/>
            <a:r>
              <a:rPr lang="en-US" sz="1400" dirty="0"/>
              <a:t>REBCO tape: 1,110 [km] / Lithium (60%) 56 tons (Li-6: 33.6 tons) </a:t>
            </a:r>
          </a:p>
          <a:p>
            <a:pPr lvl="1"/>
            <a:r>
              <a:rPr lang="en-US" sz="1400" dirty="0"/>
              <a:t>BeTi: 1,134 tons (Includes 787 tons of Be) / For every 10 yrs, 196 tons of Be replenished</a:t>
            </a:r>
          </a:p>
          <a:p>
            <a:pPr lvl="2"/>
            <a:r>
              <a:rPr lang="en-US" sz="1400" dirty="0">
                <a:solidFill>
                  <a:srgbClr val="FF0000"/>
                </a:solidFill>
              </a:rPr>
              <a:t>TOO MANY BERYLLIUM! / WILL EXCLUDE DOING CYCLUS MODELLING</a:t>
            </a:r>
          </a:p>
        </p:txBody>
      </p:sp>
    </p:spTree>
    <p:extLst>
      <p:ext uri="{BB962C8B-B14F-4D97-AF65-F5344CB8AC3E}">
        <p14:creationId xmlns:p14="http://schemas.microsoft.com/office/powerpoint/2010/main" val="186254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D8363-00C3-B2FC-1B87-ABDF9910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of Using REBCO / Electricity Generation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57410A-8D6E-C71C-05BA-75F226E14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7736C5E-562C-18A8-6578-CA15506F2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374255"/>
              </p:ext>
            </p:extLst>
          </p:nvPr>
        </p:nvGraphicFramePr>
        <p:xfrm>
          <a:off x="179510" y="692696"/>
          <a:ext cx="8778244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2285418233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7446291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975404704"/>
                    </a:ext>
                  </a:extLst>
                </a:gridCol>
                <a:gridCol w="2081500">
                  <a:extLst>
                    <a:ext uri="{9D8B030D-6E8A-4147-A177-3AD203B41FA5}">
                      <a16:colId xmlns:a16="http://schemas.microsoft.com/office/drawing/2014/main" val="1311692228"/>
                    </a:ext>
                  </a:extLst>
                </a:gridCol>
              </a:tblGrid>
              <a:tr h="204023">
                <a:tc>
                  <a:txBody>
                    <a:bodyPr/>
                    <a:lstStyle/>
                    <a:p>
                      <a:r>
                        <a:rPr lang="en-US" sz="1600" dirty="0"/>
                        <a:t>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Hammir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EU DEMO (WCLL)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542434"/>
                  </a:ext>
                </a:extLst>
              </a:tr>
              <a:tr h="204023">
                <a:tc>
                  <a:txBody>
                    <a:bodyPr/>
                    <a:lstStyle/>
                    <a:p>
                      <a:r>
                        <a:rPr lang="en-US" sz="1600" dirty="0"/>
                        <a:t>Fusion Power [MW]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289601"/>
                  </a:ext>
                </a:extLst>
              </a:tr>
              <a:tr h="204023">
                <a:tc>
                  <a:txBody>
                    <a:bodyPr/>
                    <a:lstStyle/>
                    <a:p>
                      <a:r>
                        <a:rPr lang="en-US" sz="1600" dirty="0"/>
                        <a:t>Electric Power [MW]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1,550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324511"/>
                  </a:ext>
                </a:extLst>
              </a:tr>
              <a:tr h="204023">
                <a:tc>
                  <a:txBody>
                    <a:bodyPr/>
                    <a:lstStyle/>
                    <a:p>
                      <a:r>
                        <a:rPr lang="en-US" sz="1600" dirty="0"/>
                        <a:t>REBCO [km]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5,730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1,406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1,542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003918"/>
                  </a:ext>
                </a:extLst>
              </a:tr>
              <a:tr h="204023">
                <a:tc>
                  <a:txBody>
                    <a:bodyPr/>
                    <a:lstStyle/>
                    <a:p>
                      <a:r>
                        <a:rPr lang="en-US" sz="1600" dirty="0"/>
                        <a:t>Conversion efficiency [-]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83947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sz="1600" dirty="0"/>
                        <a:t>Fusion Power per unit</a:t>
                      </a:r>
                    </a:p>
                    <a:p>
                      <a:r>
                        <a:rPr lang="en-US" sz="1600" dirty="0"/>
                        <a:t>REBCO length [kW/km]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248.9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7002.8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7478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en-US" sz="1600" dirty="0"/>
                        <a:t>Electric Power per unit</a:t>
                      </a:r>
                    </a:p>
                    <a:p>
                      <a:r>
                        <a:rPr lang="en-US" sz="1600" dirty="0"/>
                        <a:t>REBCO length [kW/km]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117.4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2170.9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9663448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5D87A1FC-2BAD-ACA8-F31B-CBD76AC2E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671352"/>
            <a:ext cx="5184576" cy="260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93442-A9BD-2338-9D10-7B22B8A9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Table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BEBABC9A-12E4-EEFE-DB3C-2BC759D010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559575"/>
              </p:ext>
            </p:extLst>
          </p:nvPr>
        </p:nvGraphicFramePr>
        <p:xfrm>
          <a:off x="182878" y="692696"/>
          <a:ext cx="8774876" cy="37412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13058">
                  <a:extLst>
                    <a:ext uri="{9D8B030D-6E8A-4147-A177-3AD203B41FA5}">
                      <a16:colId xmlns:a16="http://schemas.microsoft.com/office/drawing/2014/main" val="1919679119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42870771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82312370"/>
                    </a:ext>
                  </a:extLst>
                </a:gridCol>
                <a:gridCol w="1649450">
                  <a:extLst>
                    <a:ext uri="{9D8B030D-6E8A-4147-A177-3AD203B41FA5}">
                      <a16:colId xmlns:a16="http://schemas.microsoft.com/office/drawing/2014/main" val="1577290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Parameter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ARC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Hammir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EU DEMO-like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3306794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Fusion power [MW]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525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350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5,000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4131611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Net electric power [MWe]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190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165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1,550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3258705559"/>
                  </a:ext>
                </a:extLst>
              </a:tr>
              <a:tr h="1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FF"/>
                          </a:solidFill>
                        </a:rPr>
                        <a:t>Startup enriched Li inventory [t/plant]*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132.6 Li-90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40.2 Li-30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133.4 Li-90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464371903"/>
                  </a:ext>
                </a:extLst>
              </a:tr>
              <a:tr h="1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Li-6 burnup [kg/yr/plant]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57.8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38.5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550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2125471396"/>
                  </a:ext>
                </a:extLst>
              </a:tr>
              <a:tr h="1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Annual enriched Li demand [kg/yr-plant]*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64.2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128.3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611.1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128603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REBCO [km/plant]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5,730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1,406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714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79159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PbLi [t/plant]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—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6,704.2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24,371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4136261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WB [t/plant]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—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781.18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—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118887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Nb3Sn [t/plant]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—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—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595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3013246140"/>
                  </a:ext>
                </a:extLst>
              </a:tr>
              <a:tr h="1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3333FF"/>
                          </a:solidFill>
                        </a:rPr>
                        <a:t>Startup enriched Li intensity [t/</a:t>
                      </a:r>
                      <a:r>
                        <a:rPr lang="en-US" sz="1400" dirty="0" err="1">
                          <a:solidFill>
                            <a:srgbClr val="3333FF"/>
                          </a:solidFill>
                        </a:rPr>
                        <a:t>GWe</a:t>
                      </a:r>
                      <a:r>
                        <a:rPr lang="en-US" sz="1400" dirty="0">
                          <a:solidFill>
                            <a:srgbClr val="3333FF"/>
                          </a:solidFill>
                        </a:rPr>
                        <a:t>]*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697.9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243.6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86.1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3854561880"/>
                  </a:ext>
                </a:extLst>
              </a:tr>
              <a:tr h="1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REBCO intensity [km/GWe]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30,158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8,521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461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10746245"/>
                  </a:ext>
                </a:extLst>
              </a:tr>
              <a:tr h="143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Annual enriched Li intensity </a:t>
                      </a:r>
                      <a:r>
                        <a:rPr lang="it-IT" sz="1400" dirty="0">
                          <a:solidFill>
                            <a:srgbClr val="FF0000"/>
                          </a:solidFill>
                        </a:rPr>
                        <a:t>[t/GWe-yr]*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0.338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0.778</a:t>
                      </a:r>
                    </a:p>
                  </a:txBody>
                  <a:tcPr marL="74432" marR="74432" marT="37216" marB="37216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0.394</a:t>
                      </a:r>
                    </a:p>
                  </a:txBody>
                  <a:tcPr marL="74432" marR="74432" marT="37216" marB="37216" anchor="ctr"/>
                </a:tc>
                <a:extLst>
                  <a:ext uri="{0D108BD9-81ED-4DB2-BD59-A6C34878D82A}">
                    <a16:rowId xmlns:a16="http://schemas.microsoft.com/office/drawing/2014/main" val="325372855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86BACB-6D63-1C98-418D-FC140F4E5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024DF-5095-7780-A9B0-07CA2FF85AAA}"/>
              </a:ext>
            </a:extLst>
          </p:cNvPr>
          <p:cNvSpPr txBox="1"/>
          <p:nvPr/>
        </p:nvSpPr>
        <p:spPr>
          <a:xfrm>
            <a:off x="145191" y="4509120"/>
            <a:ext cx="8850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* Startup and annual enriched Li demand denote the required mass of enriched lithium, obtained by dividing the required Li-6 mass by the corresponding Li-6 enrichment fraction: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E08748-F7B3-0DE3-2A46-646CEEAEEB4D}"/>
                  </a:ext>
                </a:extLst>
              </p:cNvPr>
              <p:cNvSpPr txBox="1"/>
              <p:nvPr/>
            </p:nvSpPr>
            <p:spPr>
              <a:xfrm>
                <a:off x="3740794" y="5135387"/>
                <a:ext cx="1659044" cy="502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𝑒𝑛𝑟𝑖𝑐h𝑒𝑑</m:t>
                          </m:r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E08748-F7B3-0DE3-2A46-646CEEAEE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94" y="5135387"/>
                <a:ext cx="1659044" cy="5028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403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RDTL_PPT_Template_(20%_cooler)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dtl_v2">
      <a:majorFont>
        <a:latin typeface="Book Antiqua"/>
        <a:ea typeface="맑은 고딕"/>
        <a:cs typeface=""/>
      </a:majorFont>
      <a:minorFont>
        <a:latin typeface="Book Antiqua"/>
        <a:ea typeface="맑은 고딕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RDTL_PPT_Template_(20%_cooler)</Template>
  <TotalTime>37342</TotalTime>
  <Words>1381</Words>
  <Application>Microsoft Office PowerPoint</Application>
  <PresentationFormat>화면 슬라이드 쇼(4:3)</PresentationFormat>
  <Paragraphs>255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Euclid</vt:lpstr>
      <vt:lpstr>Malgun Gothic</vt:lpstr>
      <vt:lpstr>Malgun Gothic</vt:lpstr>
      <vt:lpstr>MS Mincho</vt:lpstr>
      <vt:lpstr>Arial</vt:lpstr>
      <vt:lpstr>Book Antiqua</vt:lpstr>
      <vt:lpstr>Cambria Math</vt:lpstr>
      <vt:lpstr>Times New Roman</vt:lpstr>
      <vt:lpstr>RDTL_PPT_Template_(20%_cooler)</vt:lpstr>
      <vt:lpstr>Lithium-6 Consumption Issue</vt:lpstr>
      <vt:lpstr>Candidate #01: ARC</vt:lpstr>
      <vt:lpstr>Candidate #02: Hammir</vt:lpstr>
      <vt:lpstr>Candidate #03: EU-DEMO Derived</vt:lpstr>
      <vt:lpstr>Candidate #03: EU-DEMO Derived</vt:lpstr>
      <vt:lpstr>Candidate #03: EU-DEMO Derived</vt:lpstr>
      <vt:lpstr>Efficiency of Using REBCO / Electricity Generation</vt:lpstr>
      <vt:lpstr>Overall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 of Xe-135m on Xenon Reactivity  in Thermal Reactors</dc:title>
  <dc:creator>Windows 사용자</dc:creator>
  <cp:lastModifiedBy>Taesuk Oh</cp:lastModifiedBy>
  <cp:revision>878</cp:revision>
  <cp:lastPrinted>2014-09-26T06:44:14Z</cp:lastPrinted>
  <dcterms:created xsi:type="dcterms:W3CDTF">2013-05-26T12:21:08Z</dcterms:created>
  <dcterms:modified xsi:type="dcterms:W3CDTF">2026-06-16T18:57:18Z</dcterms:modified>
</cp:coreProperties>
</file>