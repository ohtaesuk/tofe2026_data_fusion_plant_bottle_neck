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837" r:id="rId4"/>
    <p:sldId id="838" r:id="rId5"/>
    <p:sldId id="839" r:id="rId6"/>
    <p:sldId id="840" r:id="rId7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98" autoAdjust="0"/>
    <p:restoredTop sz="96391" autoAdjust="0"/>
  </p:normalViewPr>
  <p:slideViewPr>
    <p:cSldViewPr>
      <p:cViewPr varScale="1">
        <p:scale>
          <a:sx n="117" d="100"/>
          <a:sy n="117" d="100"/>
        </p:scale>
        <p:origin x="1626" y="48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5E79-4E52-9E90-04F1-06B17FF7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Requirement – ARC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2D43-954F-320B-E720-40AFC05EF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Based on the following paper:</a:t>
            </a:r>
          </a:p>
          <a:p>
            <a:pPr lvl="1"/>
            <a:r>
              <a:rPr lang="en-US" sz="1400" dirty="0"/>
              <a:t>B.N. </a:t>
            </a:r>
            <a:r>
              <a:rPr lang="en-US" sz="1400" dirty="0" err="1"/>
              <a:t>Sorbom</a:t>
            </a:r>
            <a:r>
              <a:rPr lang="en-US" sz="1400" dirty="0"/>
              <a:t> et al., ‘ARC: A compact, high-field, fusion nuclear science facility and demonstration power plant with demountable magnets’ Fusion Engineering and Design 100 (2015) 378–405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r>
              <a:rPr lang="en-US" sz="1400" dirty="0"/>
              <a:t>One modification: We do not use Inconel718 for structural material / Substituted with Vanadium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66D02-2E6A-389E-DC44-B4A53FBAB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C2FE6-6866-3749-5D63-A45E98572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540401"/>
            <a:ext cx="8778242" cy="3777198"/>
          </a:xfrm>
          <a:prstGeom prst="rect">
            <a:avLst/>
          </a:prstGeom>
        </p:spPr>
      </p:pic>
      <p:sp>
        <p:nvSpPr>
          <p:cNvPr id="7" name="직사각형 5">
            <a:extLst>
              <a:ext uri="{FF2B5EF4-FFF2-40B4-BE49-F238E27FC236}">
                <a16:creationId xmlns:a16="http://schemas.microsoft.com/office/drawing/2014/main" id="{55C67F05-4D15-EBD1-E5E1-F9E3B3B39BCE}"/>
              </a:ext>
            </a:extLst>
          </p:cNvPr>
          <p:cNvSpPr/>
          <p:nvPr/>
        </p:nvSpPr>
        <p:spPr>
          <a:xfrm>
            <a:off x="225144" y="2132856"/>
            <a:ext cx="8676964" cy="89214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E1AA5-E347-87FD-6A8E-277B4870CBBF}"/>
              </a:ext>
            </a:extLst>
          </p:cNvPr>
          <p:cNvSpPr txBox="1"/>
          <p:nvPr/>
        </p:nvSpPr>
        <p:spPr>
          <a:xfrm>
            <a:off x="827584" y="2778176"/>
            <a:ext cx="162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Periodically replaced</a:t>
            </a:r>
          </a:p>
        </p:txBody>
      </p:sp>
    </p:spTree>
    <p:extLst>
      <p:ext uri="{BB962C8B-B14F-4D97-AF65-F5344CB8AC3E}">
        <p14:creationId xmlns:p14="http://schemas.microsoft.com/office/powerpoint/2010/main" val="68437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Requirement – ARC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Vanadium is employed for (</a:t>
            </a:r>
            <a:r>
              <a:rPr lang="en-US" altLang="ko-KR" dirty="0" err="1"/>
              <a:t>i</a:t>
            </a:r>
            <a:r>
              <a:rPr lang="en-US" altLang="ko-KR" dirty="0"/>
              <a:t>) periodically replaced and (ii) initial deployment materials</a:t>
            </a:r>
          </a:p>
          <a:p>
            <a:pPr lvl="1"/>
            <a:r>
              <a:rPr lang="en-US" altLang="ko-KR" dirty="0"/>
              <a:t>Assume the same volume from the table, in which Inconel718 is occupying.</a:t>
            </a:r>
          </a:p>
          <a:p>
            <a:pPr lvl="1"/>
            <a:r>
              <a:rPr lang="en-US" altLang="ko-KR" dirty="0"/>
              <a:t>Accommodate the density (g/cc) difference for Vanadium and Inconel → calculate the mass</a:t>
            </a:r>
          </a:p>
          <a:p>
            <a:pPr lvl="2"/>
            <a:r>
              <a:rPr lang="en-US" altLang="ko-KR" dirty="0"/>
              <a:t>For periodically replaced Vanadium: 58.33 tons</a:t>
            </a:r>
          </a:p>
          <a:p>
            <a:pPr lvl="2"/>
            <a:r>
              <a:rPr lang="en-US" altLang="ko-KR" dirty="0"/>
              <a:t>For initial deployment Vanadium: 71.39 tons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Through literature survey, found out that </a:t>
            </a:r>
            <a:r>
              <a:rPr lang="en-US" altLang="ko-KR" dirty="0" err="1"/>
              <a:t>FLiBe</a:t>
            </a:r>
            <a:r>
              <a:rPr lang="en-US" altLang="ko-KR" dirty="0"/>
              <a:t> being the most prominent material that will </a:t>
            </a:r>
          </a:p>
          <a:p>
            <a:r>
              <a:rPr lang="en-US" altLang="ko-KR" dirty="0"/>
              <a:t>cause the bottleneck issue for deployment of ARC reactor</a:t>
            </a:r>
          </a:p>
          <a:p>
            <a:pPr lvl="1"/>
            <a:r>
              <a:rPr lang="en-US" altLang="ko-KR" dirty="0"/>
              <a:t>For further information, refer to the WARF project meeting PPT files.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ARC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14EC4E32-A08E-A917-F58D-B582C1934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907" y="1709486"/>
            <a:ext cx="3248756" cy="3780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0263A8-7A63-253E-DFA0-CC529C0E4096}"/>
              </a:ext>
            </a:extLst>
          </p:cNvPr>
          <p:cNvSpPr txBox="1"/>
          <p:nvPr/>
        </p:nvSpPr>
        <p:spPr>
          <a:xfrm>
            <a:off x="191105" y="5453243"/>
            <a:ext cx="5112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The ARC reactor, shown with the plasma in yellow  and the TF superconducting tape in brown.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D37123-F3B4-5915-FF0A-31D5C88F2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793" y="1599853"/>
            <a:ext cx="1630935" cy="3823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934D2E-7ABA-8A4B-7D7A-C9AE2BF9B4DA}"/>
              </a:ext>
            </a:extLst>
          </p:cNvPr>
          <p:cNvSpPr txBox="1"/>
          <p:nvPr/>
        </p:nvSpPr>
        <p:spPr>
          <a:xfrm>
            <a:off x="5355374" y="5453243"/>
            <a:ext cx="38229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The upper half of ARC’s superconducting coils can be removed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</a:t>
            </a:r>
          </a:p>
          <a:p>
            <a:r>
              <a:rPr lang="en-US" sz="16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vacuum vessel to be re-moved from the </a:t>
            </a:r>
          </a:p>
          <a:p>
            <a:r>
              <a:rPr lang="en-US" sz="1600" b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blanket tank as a single piece.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21FA9-0FBC-4C04-B245-BAEFCCD02990}"/>
              </a:ext>
            </a:extLst>
          </p:cNvPr>
          <p:cNvSpPr txBox="1"/>
          <p:nvPr/>
        </p:nvSpPr>
        <p:spPr>
          <a:xfrm>
            <a:off x="172554" y="1988906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</a:rPr>
              <a:t>Modularized!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123B70-8B63-8E9C-E605-671F8B52E3A5}"/>
              </a:ext>
            </a:extLst>
          </p:cNvPr>
          <p:cNvSpPr txBox="1"/>
          <p:nvPr/>
        </p:nvSpPr>
        <p:spPr>
          <a:xfrm>
            <a:off x="191105" y="6038018"/>
            <a:ext cx="3717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</a:rPr>
              <a:t>Utilizes a fully liquid blanket (</a:t>
            </a:r>
            <a:r>
              <a:rPr lang="en-US" sz="1600" b="1" dirty="0" err="1">
                <a:solidFill>
                  <a:srgbClr val="3333FF"/>
                </a:solidFill>
              </a:rPr>
              <a:t>FLiBe</a:t>
            </a:r>
            <a:r>
              <a:rPr lang="en-US" sz="1600" b="1" dirty="0">
                <a:solidFill>
                  <a:srgbClr val="3333FF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F4344-8CE6-32AF-31D5-55A7A41E1F45}"/>
              </a:ext>
            </a:extLst>
          </p:cNvPr>
          <p:cNvSpPr txBox="1"/>
          <p:nvPr/>
        </p:nvSpPr>
        <p:spPr>
          <a:xfrm>
            <a:off x="4241513" y="3599844"/>
            <a:ext cx="3822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Fusion Power of 525 </a:t>
            </a:r>
            <a:r>
              <a:rPr lang="en-US" b="1" dirty="0" err="1"/>
              <a:t>MWth</a:t>
            </a:r>
            <a:r>
              <a:rPr lang="en-US" b="1" dirty="0"/>
              <a:t> </a:t>
            </a:r>
          </a:p>
          <a:p>
            <a:r>
              <a:rPr lang="en-US" b="1" dirty="0"/>
              <a:t>Net electricity power of </a:t>
            </a:r>
            <a:r>
              <a:rPr lang="en-US" b="1" dirty="0">
                <a:highlight>
                  <a:srgbClr val="FFFF00"/>
                </a:highlight>
              </a:rPr>
              <a:t>190 MWe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7ED41C-96AC-6554-5BB4-B150B7ABC9FE}"/>
              </a:ext>
            </a:extLst>
          </p:cNvPr>
          <p:cNvSpPr txBox="1">
            <a:spLocks/>
          </p:cNvSpPr>
          <p:nvPr/>
        </p:nvSpPr>
        <p:spPr>
          <a:xfrm>
            <a:off x="107506" y="620688"/>
            <a:ext cx="8928992" cy="5879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1pPr>
            <a:lvl2pPr marL="360000" indent="-28575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–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2pPr>
            <a:lvl3pPr marL="54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3pPr>
            <a:lvl4pPr marL="72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–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4pPr>
            <a:lvl5pPr marL="900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»"/>
              <a:defRPr sz="1600" b="0" kern="1200">
                <a:solidFill>
                  <a:schemeClr val="tx1"/>
                </a:solidFill>
                <a:latin typeface="Book Antiqua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Information taken from: </a:t>
            </a:r>
          </a:p>
          <a:p>
            <a:pPr lvl="1"/>
            <a:r>
              <a:rPr lang="en-US" sz="1400" dirty="0"/>
              <a:t>B.N. </a:t>
            </a:r>
            <a:r>
              <a:rPr lang="en-US" sz="1400" dirty="0" err="1"/>
              <a:t>Sorbom</a:t>
            </a:r>
            <a:r>
              <a:rPr lang="en-US" sz="1400" dirty="0"/>
              <a:t> et al., ‘ARC: A compact, high-field, fusion nuclear science facility and demonstration power plant with demountable magnets’ Fusion Engineering and Design 100 (2015) 378–405</a:t>
            </a:r>
          </a:p>
        </p:txBody>
      </p:sp>
    </p:spTree>
    <p:extLst>
      <p:ext uri="{BB962C8B-B14F-4D97-AF65-F5344CB8AC3E}">
        <p14:creationId xmlns:p14="http://schemas.microsoft.com/office/powerpoint/2010/main" val="79699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948E-630E-8BCC-178F-0493939B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9A8C8-C20D-CEC5-755E-8EDC5F84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ARC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C3FE11-175B-0934-5440-56E5EDE3E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내용 개체 틀 9">
            <a:extLst>
              <a:ext uri="{FF2B5EF4-FFF2-40B4-BE49-F238E27FC236}">
                <a16:creationId xmlns:a16="http://schemas.microsoft.com/office/drawing/2014/main" id="{17F5839F-9285-E3B7-1369-B26993E42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609" y="746663"/>
            <a:ext cx="4187488" cy="331236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422FA5-913F-7AA5-DB7B-3B8F48E90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789" y="548680"/>
            <a:ext cx="3888432" cy="3708334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7F9CA29-0913-742B-52D1-20070E860003}"/>
              </a:ext>
            </a:extLst>
          </p:cNvPr>
          <p:cNvGraphicFramePr>
            <a:graphicFrameLocks noGrp="1"/>
          </p:cNvGraphicFramePr>
          <p:nvPr/>
        </p:nvGraphicFramePr>
        <p:xfrm>
          <a:off x="179031" y="4450040"/>
          <a:ext cx="8791190" cy="185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58238">
                  <a:extLst>
                    <a:ext uri="{9D8B030D-6E8A-4147-A177-3AD203B41FA5}">
                      <a16:colId xmlns:a16="http://schemas.microsoft.com/office/drawing/2014/main" val="3659758992"/>
                    </a:ext>
                  </a:extLst>
                </a:gridCol>
                <a:gridCol w="1758238">
                  <a:extLst>
                    <a:ext uri="{9D8B030D-6E8A-4147-A177-3AD203B41FA5}">
                      <a16:colId xmlns:a16="http://schemas.microsoft.com/office/drawing/2014/main" val="4119113844"/>
                    </a:ext>
                  </a:extLst>
                </a:gridCol>
                <a:gridCol w="1758238">
                  <a:extLst>
                    <a:ext uri="{9D8B030D-6E8A-4147-A177-3AD203B41FA5}">
                      <a16:colId xmlns:a16="http://schemas.microsoft.com/office/drawing/2014/main" val="538212287"/>
                    </a:ext>
                  </a:extLst>
                </a:gridCol>
                <a:gridCol w="1758238">
                  <a:extLst>
                    <a:ext uri="{9D8B030D-6E8A-4147-A177-3AD203B41FA5}">
                      <a16:colId xmlns:a16="http://schemas.microsoft.com/office/drawing/2014/main" val="1912980895"/>
                    </a:ext>
                  </a:extLst>
                </a:gridCol>
                <a:gridCol w="1758238">
                  <a:extLst>
                    <a:ext uri="{9D8B030D-6E8A-4147-A177-3AD203B41FA5}">
                      <a16:colId xmlns:a16="http://schemas.microsoft.com/office/drawing/2014/main" val="3778559463"/>
                    </a:ext>
                  </a:extLst>
                </a:gridCol>
              </a:tblGrid>
              <a:tr h="1965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Typical Mass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276499"/>
                  </a:ext>
                </a:extLst>
              </a:tr>
              <a:tr h="33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Short (0.5–1 yr)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VV + W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modules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≈ 86.5 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6–12 </a:t>
                      </a:r>
                      <a:r>
                        <a:rPr lang="en-US" sz="1400" dirty="0" err="1"/>
                        <a:t>mo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Main radioactive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waste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984466"/>
                  </a:ext>
                </a:extLst>
              </a:tr>
              <a:tr h="33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Long (5–9 yr)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Be multiplier / </a:t>
                      </a:r>
                    </a:p>
                    <a:p>
                      <a:pPr>
                        <a:buNone/>
                      </a:pPr>
                      <a:r>
                        <a:rPr lang="en-US" sz="1400" dirty="0" err="1"/>
                        <a:t>TiH</a:t>
                      </a:r>
                      <a:r>
                        <a:rPr lang="en-US" sz="1400" dirty="0"/>
                        <a:t>₂ shield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3.8 t / 380 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5–9 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Occasional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structural swap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128175"/>
                  </a:ext>
                </a:extLst>
              </a:tr>
              <a:tr h="334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Continuous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FLiBe</a:t>
                      </a:r>
                      <a:r>
                        <a:rPr lang="en-US" sz="1400" dirty="0"/>
                        <a:t> impurities /  filters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&lt; 1 t yr⁻¹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Corrosion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by-products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205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9A9976B-8CA9-4EE9-29DD-C797D9D21B38}"/>
              </a:ext>
            </a:extLst>
          </p:cNvPr>
          <p:cNvSpPr/>
          <p:nvPr/>
        </p:nvSpPr>
        <p:spPr>
          <a:xfrm>
            <a:off x="6533800" y="2420888"/>
            <a:ext cx="216024" cy="43204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EAB2802-034C-9E32-EEA3-BF7888A05C66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 flipV="1">
            <a:off x="4564097" y="2402847"/>
            <a:ext cx="1969703" cy="234065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BC74A6-64DF-3562-7CDC-E7FEB205C234}"/>
              </a:ext>
            </a:extLst>
          </p:cNvPr>
          <p:cNvSpPr txBox="1"/>
          <p:nvPr/>
        </p:nvSpPr>
        <p:spPr>
          <a:xfrm>
            <a:off x="4586139" y="688046"/>
            <a:ext cx="2388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Bombarded by neutrons</a:t>
            </a:r>
          </a:p>
          <a:p>
            <a:r>
              <a:rPr lang="en-US" sz="1600" dirty="0">
                <a:solidFill>
                  <a:srgbClr val="FF0000"/>
                </a:solidFill>
              </a:rPr>
              <a:t>(Replaced!)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CF9736-6A8E-EADB-BF6F-7A78FF460BA9}"/>
              </a:ext>
            </a:extLst>
          </p:cNvPr>
          <p:cNvSpPr txBox="1"/>
          <p:nvPr/>
        </p:nvSpPr>
        <p:spPr>
          <a:xfrm>
            <a:off x="2364084" y="1593632"/>
            <a:ext cx="407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Be</a:t>
            </a:r>
          </a:p>
        </p:txBody>
      </p:sp>
    </p:spTree>
    <p:extLst>
      <p:ext uri="{BB962C8B-B14F-4D97-AF65-F5344CB8AC3E}">
        <p14:creationId xmlns:p14="http://schemas.microsoft.com/office/powerpoint/2010/main" val="202457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ARC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the original paper, Inconel 718 was considered → Changed to Vanadium in our Analysis</a:t>
            </a:r>
          </a:p>
          <a:p>
            <a:pPr lvl="1"/>
            <a:r>
              <a:rPr lang="en-US" altLang="ko-KR" dirty="0"/>
              <a:t>The tungsten employed in the first wall (replaced most often) weights 3.72 tons </a:t>
            </a:r>
          </a:p>
          <a:p>
            <a:pPr lvl="1"/>
            <a:r>
              <a:rPr lang="en-US" altLang="ko-KR" dirty="0"/>
              <a:t>The vanadium employed in the first wall weights ~ 80 tons</a:t>
            </a:r>
          </a:p>
          <a:p>
            <a:pPr lvl="1"/>
            <a:r>
              <a:rPr lang="en-US" altLang="ko-KR" dirty="0"/>
              <a:t>Very unlikely for ‘short-term replaced materials’ to cause bottleneck issue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Materials to be replenished with longer time-scale &amp; for initial deployment</a:t>
            </a:r>
          </a:p>
          <a:p>
            <a:pPr lvl="1"/>
            <a:r>
              <a:rPr lang="en-US" altLang="ko-KR" dirty="0"/>
              <a:t>For Periodic long-term (~9years) replaced materials: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For initial deployment: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EAF20E-EABC-5498-7291-C88EB998E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11800"/>
              </p:ext>
            </p:extLst>
          </p:nvPr>
        </p:nvGraphicFramePr>
        <p:xfrm>
          <a:off x="597613" y="4650339"/>
          <a:ext cx="7920880" cy="12668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97223">
                  <a:extLst>
                    <a:ext uri="{9D8B030D-6E8A-4147-A177-3AD203B41FA5}">
                      <a16:colId xmlns:a16="http://schemas.microsoft.com/office/drawing/2014/main" val="4063147056"/>
                    </a:ext>
                  </a:extLst>
                </a:gridCol>
                <a:gridCol w="2809377">
                  <a:extLst>
                    <a:ext uri="{9D8B030D-6E8A-4147-A177-3AD203B41FA5}">
                      <a16:colId xmlns:a16="http://schemas.microsoft.com/office/drawing/2014/main" val="3341991788"/>
                    </a:ext>
                  </a:extLst>
                </a:gridCol>
                <a:gridCol w="2614280">
                  <a:extLst>
                    <a:ext uri="{9D8B030D-6E8A-4147-A177-3AD203B41FA5}">
                      <a16:colId xmlns:a16="http://schemas.microsoft.com/office/drawing/2014/main" val="642331578"/>
                    </a:ext>
                  </a:extLst>
                </a:gridCol>
              </a:tblGrid>
              <a:tr h="131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[tons]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Fraction [-]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626364"/>
                  </a:ext>
                </a:extLst>
              </a:tr>
              <a:tr h="131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343018"/>
                  </a:ext>
                </a:extLst>
              </a:tr>
              <a:tr h="131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SS316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5,300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4359302"/>
                  </a:ext>
                </a:extLst>
              </a:tr>
              <a:tr h="131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0.0535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7831886"/>
                  </a:ext>
                </a:extLst>
              </a:tr>
              <a:tr h="1316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71.39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909625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A5DD85-F78C-8150-176C-C0DFA36B7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38018"/>
              </p:ext>
            </p:extLst>
          </p:nvPr>
        </p:nvGraphicFramePr>
        <p:xfrm>
          <a:off x="597613" y="3053757"/>
          <a:ext cx="7920880" cy="10134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97223">
                  <a:extLst>
                    <a:ext uri="{9D8B030D-6E8A-4147-A177-3AD203B41FA5}">
                      <a16:colId xmlns:a16="http://schemas.microsoft.com/office/drawing/2014/main" val="4063147056"/>
                    </a:ext>
                  </a:extLst>
                </a:gridCol>
                <a:gridCol w="2809377">
                  <a:extLst>
                    <a:ext uri="{9D8B030D-6E8A-4147-A177-3AD203B41FA5}">
                      <a16:colId xmlns:a16="http://schemas.microsoft.com/office/drawing/2014/main" val="3341991788"/>
                    </a:ext>
                  </a:extLst>
                </a:gridCol>
                <a:gridCol w="2614280">
                  <a:extLst>
                    <a:ext uri="{9D8B030D-6E8A-4147-A177-3AD203B41FA5}">
                      <a16:colId xmlns:a16="http://schemas.microsoft.com/office/drawing/2014/main" val="642331578"/>
                    </a:ext>
                  </a:extLst>
                </a:gridCol>
              </a:tblGrid>
              <a:tr h="111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[tons]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Fraction [-]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626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0.0086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43018"/>
                  </a:ext>
                </a:extLst>
              </a:tr>
              <a:tr h="1343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TiH</a:t>
                      </a:r>
                      <a:r>
                        <a:rPr lang="en-US" sz="1600" u="none" strike="noStrike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380.18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0.8595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359302"/>
                  </a:ext>
                </a:extLst>
              </a:tr>
              <a:tr h="75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58.33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0.1319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90962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4F4B71-64AA-3093-6782-5463CEE20DAC}"/>
              </a:ext>
            </a:extLst>
          </p:cNvPr>
          <p:cNvSpPr txBox="1"/>
          <p:nvPr/>
        </p:nvSpPr>
        <p:spPr>
          <a:xfrm>
            <a:off x="31603" y="6196075"/>
            <a:ext cx="842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Although, the quality (impurity level) of material would matter, but will be neglected in this analysis</a:t>
            </a:r>
          </a:p>
        </p:txBody>
      </p:sp>
    </p:spTree>
    <p:extLst>
      <p:ext uri="{BB962C8B-B14F-4D97-AF65-F5344CB8AC3E}">
        <p14:creationId xmlns:p14="http://schemas.microsoft.com/office/powerpoint/2010/main" val="122652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A25D-EDAA-8F5F-A854-8F7B74E33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Design Overview – ARC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D528-D3E9-EDD4-C7A6-624A66F8E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Lithium-6 enrichment of 90 a/o considered for ARC</a:t>
            </a:r>
          </a:p>
          <a:p>
            <a:pPr lvl="1"/>
            <a:r>
              <a:rPr lang="en-US" dirty="0"/>
              <a:t>Out of 958 tons of </a:t>
            </a:r>
            <a:r>
              <a:rPr lang="en-US" dirty="0" err="1"/>
              <a:t>FLiBe</a:t>
            </a:r>
            <a:r>
              <a:rPr lang="en-US" dirty="0"/>
              <a:t>, weight fraction of Be is about 9.26% and Lithium is about 13.84%</a:t>
            </a:r>
          </a:p>
          <a:p>
            <a:pPr lvl="2"/>
            <a:r>
              <a:rPr lang="en-US" dirty="0"/>
              <a:t>Required mass of Be is about 88.7 tons</a:t>
            </a:r>
          </a:p>
          <a:p>
            <a:pPr lvl="2"/>
            <a:r>
              <a:rPr lang="en-US" dirty="0"/>
              <a:t>Required mass of Lithium (including both Li-6 and Li-7) is about 132.6 tons (</a:t>
            </a:r>
            <a:r>
              <a:rPr lang="en-US" dirty="0">
                <a:highlight>
                  <a:srgbClr val="FFFF00"/>
                </a:highlight>
              </a:rPr>
              <a:t>Li-6: 119.34 t</a:t>
            </a:r>
            <a:r>
              <a:rPr lang="en-US" dirty="0"/>
              <a:t>)</a:t>
            </a:r>
          </a:p>
          <a:p>
            <a:pPr lvl="2"/>
            <a:endParaRPr lang="en-US" dirty="0"/>
          </a:p>
          <a:p>
            <a:r>
              <a:rPr lang="en-US" dirty="0"/>
              <a:t>The REBCO tape is required about 5,730 km </a:t>
            </a:r>
          </a:p>
          <a:p>
            <a:endParaRPr lang="en-US" dirty="0"/>
          </a:p>
          <a:p>
            <a:r>
              <a:rPr lang="en-US" dirty="0"/>
              <a:t>No explicit mentioning for refueling of Lithium in </a:t>
            </a:r>
            <a:r>
              <a:rPr lang="en-US" dirty="0" err="1"/>
              <a:t>FLiBe</a:t>
            </a:r>
            <a:r>
              <a:rPr lang="en-US" dirty="0"/>
              <a:t> salt</a:t>
            </a:r>
          </a:p>
          <a:p>
            <a:pPr lvl="1"/>
            <a:r>
              <a:rPr lang="en-US" dirty="0"/>
              <a:t>Each D–T fusion reaction releases 17.6 MeV</a:t>
            </a:r>
          </a:p>
          <a:p>
            <a:pPr lvl="2"/>
            <a:r>
              <a:rPr lang="en-US" dirty="0"/>
              <a:t>Corresponds to 2.82E-12 J/reaction</a:t>
            </a:r>
          </a:p>
          <a:p>
            <a:pPr lvl="2"/>
            <a:r>
              <a:rPr lang="en-US" dirty="0"/>
              <a:t>One neutron is produced per fusion reaction</a:t>
            </a:r>
          </a:p>
          <a:p>
            <a:pPr lvl="1"/>
            <a:r>
              <a:rPr lang="en-US" dirty="0"/>
              <a:t>Ideally, one neutron breeds one tritium atom</a:t>
            </a:r>
          </a:p>
          <a:p>
            <a:pPr lvl="2"/>
            <a:r>
              <a:rPr lang="en-US" dirty="0"/>
              <a:t>one Li-6 atom is consumed per fusion reaction  (neglect contribution from Li-7)</a:t>
            </a:r>
          </a:p>
          <a:p>
            <a:pPr lvl="1"/>
            <a:r>
              <a:rPr lang="en-US" dirty="0"/>
              <a:t>For a thermal power of </a:t>
            </a:r>
            <a:r>
              <a:rPr lang="en-US" dirty="0">
                <a:highlight>
                  <a:srgbClr val="FFFF00"/>
                </a:highlight>
              </a:rPr>
              <a:t>1 </a:t>
            </a:r>
            <a:r>
              <a:rPr lang="en-US" dirty="0" err="1">
                <a:highlight>
                  <a:srgbClr val="FFFF00"/>
                </a:highlight>
              </a:rPr>
              <a:t>GWth</a:t>
            </a:r>
            <a:r>
              <a:rPr lang="en-US" dirty="0"/>
              <a:t>: requires 3.55E+20 reactions/s</a:t>
            </a:r>
          </a:p>
          <a:p>
            <a:pPr lvl="2"/>
            <a:r>
              <a:rPr lang="en-US" dirty="0"/>
              <a:t>The same amount of Li-6 is consumed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Corresponds to about 110 kg/year of Li-6 consumption</a:t>
            </a:r>
          </a:p>
          <a:p>
            <a:pPr lvl="2"/>
            <a:r>
              <a:rPr lang="en-US" dirty="0"/>
              <a:t>For ARC, approximately 57.8 kg/year of Li-6 consumption / </a:t>
            </a:r>
            <a:r>
              <a:rPr lang="en-US" dirty="0">
                <a:highlight>
                  <a:srgbClr val="FFFF00"/>
                </a:highlight>
              </a:rPr>
              <a:t>50 years operation ~ 2.9 tons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57A07-7BC0-D505-ED6C-E341BB5F9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6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29915</TotalTime>
  <Words>676</Words>
  <Application>Microsoft Office PowerPoint</Application>
  <PresentationFormat>화면 슬라이드 쇼(4:3)</PresentationFormat>
  <Paragraphs>135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Euclid</vt:lpstr>
      <vt:lpstr>Malgun Gothic</vt:lpstr>
      <vt:lpstr>Arial</vt:lpstr>
      <vt:lpstr>Book Antiqua</vt:lpstr>
      <vt:lpstr>Times New Roman</vt:lpstr>
      <vt:lpstr>RDTL_PPT_Template_(20%_cooler)</vt:lpstr>
      <vt:lpstr>Material Requirement – ARC </vt:lpstr>
      <vt:lpstr>Material Requirement – ARC </vt:lpstr>
      <vt:lpstr>Design Overview – ARC</vt:lpstr>
      <vt:lpstr>Design Overview – ARC</vt:lpstr>
      <vt:lpstr>Design Overview – ARC</vt:lpstr>
      <vt:lpstr>Design Overview – ARC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799</cp:revision>
  <cp:lastPrinted>2014-09-26T06:44:14Z</cp:lastPrinted>
  <dcterms:created xsi:type="dcterms:W3CDTF">2013-05-26T12:21:08Z</dcterms:created>
  <dcterms:modified xsi:type="dcterms:W3CDTF">2026-05-21T21:41:37Z</dcterms:modified>
</cp:coreProperties>
</file>