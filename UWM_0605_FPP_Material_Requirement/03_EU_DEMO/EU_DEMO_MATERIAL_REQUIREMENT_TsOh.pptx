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6"/>
  </p:notesMasterIdLst>
  <p:handoutMasterIdLst>
    <p:handoutMasterId r:id="rId17"/>
  </p:handoutMasterIdLst>
  <p:sldIdLst>
    <p:sldId id="257" r:id="rId2"/>
    <p:sldId id="835" r:id="rId3"/>
    <p:sldId id="836" r:id="rId4"/>
    <p:sldId id="837" r:id="rId5"/>
    <p:sldId id="838" r:id="rId6"/>
    <p:sldId id="839" r:id="rId7"/>
    <p:sldId id="846" r:id="rId8"/>
    <p:sldId id="840" r:id="rId9"/>
    <p:sldId id="841" r:id="rId10"/>
    <p:sldId id="842" r:id="rId11"/>
    <p:sldId id="843" r:id="rId12"/>
    <p:sldId id="844" r:id="rId13"/>
    <p:sldId id="845" r:id="rId14"/>
    <p:sldId id="847" r:id="rId15"/>
  </p:sldIdLst>
  <p:sldSz cx="9144000" cy="6858000" type="screen4x3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A1C7F6"/>
    <a:srgbClr val="FFC099"/>
    <a:srgbClr val="FFE699"/>
    <a:srgbClr val="B99454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98" autoAdjust="0"/>
    <p:restoredTop sz="96391" autoAdjust="0"/>
  </p:normalViewPr>
  <p:slideViewPr>
    <p:cSldViewPr>
      <p:cViewPr varScale="1">
        <p:scale>
          <a:sx n="115" d="100"/>
          <a:sy n="115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978" y="0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/>
          <a:lstStyle>
            <a:lvl1pPr algn="r">
              <a:defRPr sz="1200"/>
            </a:lvl1pPr>
          </a:lstStyle>
          <a:p>
            <a:fld id="{27258BA9-DBB3-4D84-9191-530C08055F7E}" type="datetimeFigureOut">
              <a:rPr lang="ko-KR" altLang="en-US" smtClean="0"/>
              <a:pPr/>
              <a:t>2026-06-07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978" y="6381737"/>
            <a:ext cx="4270896" cy="335482"/>
          </a:xfrm>
          <a:prstGeom prst="rect">
            <a:avLst/>
          </a:prstGeom>
        </p:spPr>
        <p:txBody>
          <a:bodyPr vert="horz" lIns="91423" tIns="45711" rIns="91423" bIns="45711" rtlCol="0" anchor="b"/>
          <a:lstStyle>
            <a:lvl1pPr algn="r">
              <a:defRPr sz="1200"/>
            </a:lvl1pPr>
          </a:lstStyle>
          <a:p>
            <a:fld id="{6FBBE626-B9E8-4350-B5B1-D28E837690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30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460" y="1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/>
          <a:lstStyle>
            <a:lvl1pPr algn="r">
              <a:defRPr sz="1200"/>
            </a:lvl1pPr>
          </a:lstStyle>
          <a:p>
            <a:fld id="{AE5F3A91-6DFA-4AFD-9BD4-D380FF353972}" type="datetimeFigureOut">
              <a:rPr lang="ko-KR" altLang="en-US" smtClean="0"/>
              <a:pPr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48025" y="503238"/>
            <a:ext cx="33591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608" tIns="45304" rIns="90608" bIns="4530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048" y="3191272"/>
            <a:ext cx="7885105" cy="3023392"/>
          </a:xfrm>
          <a:prstGeom prst="rect">
            <a:avLst/>
          </a:prstGeom>
        </p:spPr>
        <p:txBody>
          <a:bodyPr vert="horz" lIns="90608" tIns="45304" rIns="90608" bIns="45304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460" y="6380974"/>
            <a:ext cx="4271164" cy="335758"/>
          </a:xfrm>
          <a:prstGeom prst="rect">
            <a:avLst/>
          </a:prstGeom>
        </p:spPr>
        <p:txBody>
          <a:bodyPr vert="horz" lIns="90608" tIns="45304" rIns="90608" bIns="45304" rtlCol="0" anchor="b"/>
          <a:lstStyle>
            <a:lvl1pPr algn="r">
              <a:defRPr sz="1200"/>
            </a:lvl1pPr>
          </a:lstStyle>
          <a:p>
            <a:fld id="{9B2C5185-B6F1-43AC-B74F-79C86D7624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648"/>
            <a:ext cx="9144000" cy="2304256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933056"/>
            <a:ext cx="6400800" cy="2448272"/>
          </a:xfrm>
        </p:spPr>
        <p:txBody>
          <a:bodyPr>
            <a:normAutofit/>
          </a:bodyPr>
          <a:lstStyle>
            <a:lvl1pPr marL="0" indent="0" algn="ctr">
              <a:buNone/>
              <a:defRPr sz="22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pic>
        <p:nvPicPr>
          <p:cNvPr id="4" name="Picture 2" descr="uw-madison-logo-flush-web">
            <a:extLst>
              <a:ext uri="{FF2B5EF4-FFF2-40B4-BE49-F238E27FC236}">
                <a16:creationId xmlns:a16="http://schemas.microsoft.com/office/drawing/2014/main" id="{97466EF4-B812-236C-C50D-802EDBFCE7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780928"/>
            <a:ext cx="2880320" cy="965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43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spcBef>
                <a:spcPts val="0"/>
              </a:spcBef>
              <a:buFont typeface="Euclid" pitchFamily="18" charset="0"/>
              <a:buChar char=" "/>
              <a:defRPr sz="1600" b="1">
                <a:solidFill>
                  <a:schemeClr val="tx1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  <a:defRPr sz="16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spcBef>
                <a:spcPts val="0"/>
              </a:spcBef>
              <a:defRPr sz="1600" b="0">
                <a:latin typeface="Book Antiqua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직선 연결선 7"/>
          <p:cNvCxnSpPr/>
          <p:nvPr/>
        </p:nvCxnSpPr>
        <p:spPr>
          <a:xfrm>
            <a:off x="0" y="6532359"/>
            <a:ext cx="91440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09AF99D-5208-C60B-D6A2-8DF1DA02EF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06" y="6560636"/>
            <a:ext cx="3185780" cy="29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algn="ctr">
              <a:defRPr sz="2800" b="1">
                <a:latin typeface="Book Antiqua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3" y="6560636"/>
            <a:ext cx="878521" cy="283208"/>
          </a:xfrm>
          <a:prstGeom prst="rect">
            <a:avLst/>
          </a:prstGeom>
        </p:spPr>
        <p:txBody>
          <a:bodyPr/>
          <a:lstStyle>
            <a:lvl1pPr algn="r"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itchFamily="18" charset="0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07506" y="620688"/>
            <a:ext cx="8928992" cy="5879598"/>
          </a:xfrm>
        </p:spPr>
        <p:txBody>
          <a:bodyPr/>
          <a:lstStyle>
            <a:lvl1pPr marL="0" indent="0">
              <a:lnSpc>
                <a:spcPct val="130000"/>
              </a:lnSpc>
              <a:buFont typeface="Euclid" pitchFamily="18" charset="0"/>
              <a:buChar char=" "/>
              <a:defRPr sz="2000" b="1">
                <a:solidFill>
                  <a:srgbClr val="0070C0"/>
                </a:solidFill>
                <a:latin typeface="Book Antiqua" pitchFamily="18" charset="0"/>
              </a:defRPr>
            </a:lvl1pPr>
            <a:lvl2pPr marL="360000">
              <a:lnSpc>
                <a:spcPct val="130000"/>
              </a:lnSpc>
              <a:defRPr sz="1800" b="0">
                <a:latin typeface="Book Antiqua" pitchFamily="18" charset="0"/>
              </a:defRPr>
            </a:lvl2pPr>
            <a:lvl3pPr marL="540000" indent="-228600">
              <a:lnSpc>
                <a:spcPct val="130000"/>
              </a:lnSpc>
              <a:buFont typeface="Arial" pitchFamily="34" charset="0"/>
              <a:buChar char="•"/>
              <a:defRPr sz="1800" b="0">
                <a:latin typeface="Book Antiqua" pitchFamily="18" charset="0"/>
              </a:defRPr>
            </a:lvl3pPr>
            <a:lvl4pPr marL="720000">
              <a:lnSpc>
                <a:spcPct val="130000"/>
              </a:lnSpc>
              <a:defRPr sz="1800" b="0">
                <a:latin typeface="Book Antiqua" pitchFamily="18" charset="0"/>
              </a:defRPr>
            </a:lvl4pPr>
            <a:lvl5pPr marL="900000">
              <a:lnSpc>
                <a:spcPct val="130000"/>
              </a:lnSpc>
              <a:defRPr sz="1800" b="0">
                <a:latin typeface="Book Antiqua" pitchFamily="18" charset="0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635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63688" y="6542307"/>
            <a:ext cx="5832648" cy="31569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FBA6B-78D0-4578-9319-9A333DB643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286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506" y="0"/>
            <a:ext cx="8928992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6" y="980728"/>
            <a:ext cx="8928992" cy="54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17192" y="6570500"/>
            <a:ext cx="1368152" cy="28803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9231" y="6549622"/>
            <a:ext cx="1053480" cy="316800"/>
          </a:xfrm>
          <a:prstGeom prst="rect">
            <a:avLst/>
          </a:prstGeom>
        </p:spPr>
        <p:txBody>
          <a:bodyPr/>
          <a:lstStyle>
            <a:lvl1pPr algn="r">
              <a:defRPr b="1">
                <a:latin typeface="+mn-lt"/>
              </a:defRPr>
            </a:lvl1pPr>
          </a:lstStyle>
          <a:p>
            <a:fld id="{51982901-BCC8-449F-9553-B07C9B542B1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  <p:sldLayoutId id="2147483738" r:id="rId4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usion.kit.edu/english/284.php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B7E5E-47FF-4F4B-82F7-548C573F7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EU-DEMO Overview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E8FA80-7B3A-47A0-92C6-5711A666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Based on the following paper:</a:t>
            </a:r>
          </a:p>
          <a:p>
            <a:pPr lvl="1"/>
            <a:r>
              <a:rPr lang="en-US" altLang="ko-KR" dirty="0"/>
              <a:t>Harness the material requirement to deploy one single EU-DEMO reactor </a:t>
            </a:r>
          </a:p>
          <a:p>
            <a:pPr lvl="2"/>
            <a:r>
              <a:rPr lang="en-US" altLang="ko-KR" dirty="0"/>
              <a:t>Actually, two different designs that extrapolates from the </a:t>
            </a:r>
            <a:r>
              <a:rPr lang="en-US" altLang="ko-KR" dirty="0" err="1"/>
              <a:t>origianl</a:t>
            </a:r>
            <a:r>
              <a:rPr lang="en-US" altLang="ko-KR" dirty="0"/>
              <a:t> EU-DEMO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F26A69-3200-4DA9-88A7-51E8E52D9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D207A5-6492-BCB0-DF10-8A156E17E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72816"/>
            <a:ext cx="8496944" cy="414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37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7030E-B74D-9C1F-1202-3820D982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EU-DEMO Overview</a:t>
            </a:r>
            <a:endParaRPr 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858B85-F3EC-B405-84BD-6E219C720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DBFF9B14-DCAA-B0EB-37E9-A526AA3A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different blanket concepts:</a:t>
            </a:r>
          </a:p>
          <a:p>
            <a:pPr lvl="1"/>
            <a:r>
              <a:rPr lang="en-US" dirty="0"/>
              <a:t>WCLL (Water Cooled Lithium Lead) .vs. HCPB (Helium Cooled Pebble Beds) </a:t>
            </a:r>
          </a:p>
        </p:txBody>
      </p:sp>
      <p:pic>
        <p:nvPicPr>
          <p:cNvPr id="10" name="내용 개체 틀 5">
            <a:extLst>
              <a:ext uri="{FF2B5EF4-FFF2-40B4-BE49-F238E27FC236}">
                <a16:creationId xmlns:a16="http://schemas.microsoft.com/office/drawing/2014/main" id="{9BFEA8ED-D530-299B-80FC-5AD516C43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298" y="1340768"/>
            <a:ext cx="6769403" cy="509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0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CC860-9099-E65D-B4F6-85346F189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EU-DEMO Overview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065015-584C-4D46-F7C5-91F708E96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WCLL concept exploits an eutectic alloy made of liquid Lithium and Lead (Li16Pb84) </a:t>
            </a:r>
          </a:p>
          <a:p>
            <a:pPr lvl="1"/>
            <a:r>
              <a:rPr lang="en-US" dirty="0"/>
              <a:t>It flows into the breeding zone and acting both as breeding material and neutron multiplier</a:t>
            </a:r>
          </a:p>
          <a:p>
            <a:pPr lvl="1"/>
            <a:r>
              <a:rPr lang="en-US" dirty="0"/>
              <a:t>WCLL structures are actively cooled by water, while Helium is used to extract tritium from   the </a:t>
            </a:r>
            <a:r>
              <a:rPr lang="en-US" dirty="0" err="1"/>
              <a:t>LiPb</a:t>
            </a:r>
            <a:r>
              <a:rPr lang="en-US" dirty="0"/>
              <a:t> alloy</a:t>
            </a:r>
          </a:p>
          <a:p>
            <a:pPr lvl="1"/>
            <a:r>
              <a:rPr lang="en-US" dirty="0"/>
              <a:t>Postulates 90% Lithium-6 enrichment / ~ 13.6 times the amount of natural Lithium (kg) per WCLL grade Lithium (kg)</a:t>
            </a:r>
          </a:p>
          <a:p>
            <a:pPr lvl="1"/>
            <a:endParaRPr lang="en-US" dirty="0"/>
          </a:p>
          <a:p>
            <a:r>
              <a:rPr lang="en-US" dirty="0"/>
              <a:t>The HCPB concept uses pebbles out of </a:t>
            </a:r>
            <a:r>
              <a:rPr lang="en-US" dirty="0" err="1">
                <a:highlight>
                  <a:srgbClr val="FFFF00"/>
                </a:highlight>
              </a:rPr>
              <a:t>BeTi</a:t>
            </a:r>
            <a:r>
              <a:rPr lang="en-US" dirty="0">
                <a:highlight>
                  <a:srgbClr val="FFFF00"/>
                </a:highlight>
              </a:rPr>
              <a:t> </a:t>
            </a:r>
            <a:r>
              <a:rPr lang="en-US" dirty="0"/>
              <a:t>as neutron multiplier and the so-called </a:t>
            </a:r>
            <a:r>
              <a:rPr lang="en-US" dirty="0">
                <a:highlight>
                  <a:srgbClr val="FFFF00"/>
                </a:highlight>
              </a:rPr>
              <a:t>KALOS-</a:t>
            </a:r>
          </a:p>
          <a:p>
            <a:r>
              <a:rPr lang="en-US" dirty="0">
                <a:highlight>
                  <a:srgbClr val="FFFF00"/>
                </a:highlight>
              </a:rPr>
              <a:t>ACB pebbles [65 %Mol-Li4SiO4 35 %Mol-Li2TiO3] </a:t>
            </a:r>
            <a:r>
              <a:rPr lang="en-US" dirty="0"/>
              <a:t>as breeding material. </a:t>
            </a:r>
          </a:p>
          <a:p>
            <a:pPr lvl="1"/>
            <a:r>
              <a:rPr lang="en-US" dirty="0"/>
              <a:t>Helium is exploited both as cooling fluid for structures and for purging of tritium.</a:t>
            </a:r>
          </a:p>
          <a:p>
            <a:pPr lvl="1"/>
            <a:r>
              <a:rPr lang="en-US" dirty="0"/>
              <a:t>Total Lithium in KALOS-ACB is about 18.5 </a:t>
            </a:r>
            <a:r>
              <a:rPr lang="en-US" dirty="0" err="1"/>
              <a:t>wt</a:t>
            </a:r>
            <a:r>
              <a:rPr lang="en-US" dirty="0"/>
              <a:t>% / ~30 tons of enriched Li (Li-6 60 %)</a:t>
            </a:r>
          </a:p>
          <a:p>
            <a:pPr lvl="1"/>
            <a:r>
              <a:rPr lang="en-US" dirty="0"/>
              <a:t>Approximately 9 times the amount of natural Lithium (kg) per WCLL grade Lithium (kg)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VERY LIMITED INFORMATION FOR </a:t>
            </a:r>
            <a:r>
              <a:rPr lang="en-US" b="1" dirty="0" err="1">
                <a:solidFill>
                  <a:srgbClr val="FF0000"/>
                </a:solidFill>
              </a:rPr>
              <a:t>BeTi</a:t>
            </a:r>
            <a:r>
              <a:rPr lang="en-US" b="1" dirty="0">
                <a:solidFill>
                  <a:srgbClr val="FF0000"/>
                </a:solidFill>
              </a:rPr>
              <a:t> Production</a:t>
            </a:r>
          </a:p>
          <a:p>
            <a:pPr lvl="1"/>
            <a:endParaRPr lang="en-US" dirty="0"/>
          </a:p>
          <a:p>
            <a:r>
              <a:rPr lang="en-US" dirty="0"/>
              <a:t>For both the HCPB and WCLL concepts, fusion specific reduced activation ferritic martensitic </a:t>
            </a:r>
          </a:p>
          <a:p>
            <a:r>
              <a:rPr lang="en-US" dirty="0"/>
              <a:t>(RAFM) steel, EUROFER, is currently considered the preferred structural material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DCDB8F-08C1-910D-6FA8-B7550D6EB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4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8E35E-5889-0EC2-6A20-53BADFC71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KALOS-ACB Pebbles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9EC30-6F9E-0E34-F3A2-B7C33F0FE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8556108-C60E-9226-AB59-667F29E97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" y="548680"/>
            <a:ext cx="8928100" cy="37468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17E664-E72E-8A8A-0294-FBB91E68E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4359657"/>
            <a:ext cx="8849804" cy="2256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A89D22-64FC-06A7-BDD8-45E79CC52B48}"/>
              </a:ext>
            </a:extLst>
          </p:cNvPr>
          <p:cNvSpPr txBox="1"/>
          <p:nvPr/>
        </p:nvSpPr>
        <p:spPr>
          <a:xfrm>
            <a:off x="4075365" y="3717032"/>
            <a:ext cx="48846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Very Limited Production Capability at the moment!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3191F5-4247-5FB4-F83A-6591A96D8AFD}"/>
              </a:ext>
            </a:extLst>
          </p:cNvPr>
          <p:cNvSpPr txBox="1"/>
          <p:nvPr/>
        </p:nvSpPr>
        <p:spPr>
          <a:xfrm>
            <a:off x="1605393" y="5373216"/>
            <a:ext cx="40014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 kg/h is equivalent to 17.52 tons per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35EB91-8D6D-071E-FA3E-BA4C4E22D2BC}"/>
              </a:ext>
            </a:extLst>
          </p:cNvPr>
          <p:cNvSpPr txBox="1"/>
          <p:nvPr/>
        </p:nvSpPr>
        <p:spPr>
          <a:xfrm>
            <a:off x="4572000" y="6419169"/>
            <a:ext cx="45801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https://www.fusion.kit.edu/english/284.php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9086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3DFED-04B4-F4EA-3537-965CA2B0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EU-DEMO (No Replacement Inventory)</a:t>
            </a:r>
            <a:endParaRPr 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2ECE6A2-59FC-74B3-3EA6-F2A17EBF46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96" y="614608"/>
            <a:ext cx="5181730" cy="58801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E934F6-E78D-FA7B-8C53-DF2817AA9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F00496B-CD62-5F49-C248-7D1E63F3FDF0}"/>
              </a:ext>
            </a:extLst>
          </p:cNvPr>
          <p:cNvCxnSpPr>
            <a:cxnSpLocks/>
          </p:cNvCxnSpPr>
          <p:nvPr/>
        </p:nvCxnSpPr>
        <p:spPr>
          <a:xfrm flipV="1">
            <a:off x="3154605" y="3789040"/>
            <a:ext cx="2111863" cy="216024"/>
          </a:xfrm>
          <a:prstGeom prst="straightConnector1">
            <a:avLst/>
          </a:prstGeom>
          <a:ln w="28575">
            <a:solidFill>
              <a:srgbClr val="FFE6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4A59546-79C4-0603-3544-608C50DE2387}"/>
              </a:ext>
            </a:extLst>
          </p:cNvPr>
          <p:cNvSpPr txBox="1"/>
          <p:nvPr/>
        </p:nvSpPr>
        <p:spPr>
          <a:xfrm>
            <a:off x="5292080" y="3554658"/>
            <a:ext cx="3851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 2024, approximately 1,000 metric tons of </a:t>
            </a:r>
            <a:r>
              <a:rPr lang="en-US" sz="1200" b="1" dirty="0" err="1">
                <a:solidFill>
                  <a:srgbClr val="FFC000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NbTi</a:t>
            </a:r>
            <a:r>
              <a:rPr lang="en-US" sz="1200" b="1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</a:p>
          <a:p>
            <a:r>
              <a:rPr lang="en-US" sz="1200" b="1" dirty="0">
                <a:solidFill>
                  <a:srgbClr val="FFC000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was produced. Expected CAGR is about 11%. </a:t>
            </a:r>
            <a:endParaRPr lang="en-US" sz="1200" b="1" dirty="0">
              <a:solidFill>
                <a:srgbClr val="FFC000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2D8305B-3FED-DDC4-E238-6765278A29F2}"/>
              </a:ext>
            </a:extLst>
          </p:cNvPr>
          <p:cNvCxnSpPr>
            <a:cxnSpLocks/>
          </p:cNvCxnSpPr>
          <p:nvPr/>
        </p:nvCxnSpPr>
        <p:spPr>
          <a:xfrm flipV="1">
            <a:off x="3219088" y="1844824"/>
            <a:ext cx="2150852" cy="1317542"/>
          </a:xfrm>
          <a:prstGeom prst="straightConnector1">
            <a:avLst/>
          </a:prstGeom>
          <a:ln w="28575">
            <a:solidFill>
              <a:srgbClr val="FFC0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AF03A64-5A9F-6FB3-A7B8-CBCD5D866411}"/>
              </a:ext>
            </a:extLst>
          </p:cNvPr>
          <p:cNvSpPr txBox="1"/>
          <p:nvPr/>
        </p:nvSpPr>
        <p:spPr>
          <a:xfrm>
            <a:off x="5369940" y="692336"/>
            <a:ext cx="36962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C099"/>
                </a:solidFill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Used f</a:t>
            </a:r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or ITER's toroidal field and central solenoid </a:t>
            </a:r>
          </a:p>
          <a:p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magnet systems: </a:t>
            </a:r>
          </a:p>
          <a:p>
            <a:r>
              <a:rPr lang="ko-KR" altLang="en-US" sz="1200" b="1" dirty="0" err="1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ㅁ</a:t>
            </a:r>
            <a:r>
              <a:rPr lang="ko-KR" alt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500 metric tons of strand (&gt; 100,000 km) were </a:t>
            </a:r>
          </a:p>
          <a:p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produced by nine suppliers in a procurement effort </a:t>
            </a:r>
          </a:p>
          <a:p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that lasted from 2008 to 2015. </a:t>
            </a:r>
          </a:p>
          <a:p>
            <a:endParaRPr lang="en-US" sz="1200" b="1" dirty="0">
              <a:solidFill>
                <a:srgbClr val="FFC099"/>
              </a:solidFill>
              <a:effectLst/>
              <a:latin typeface="Aptos" panose="020B000402020202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FFC099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This large-scale industrial effort demanded a ramp-up of global production capacity from 15 metric tons/year to 100 metric tons/year, as well as the introduction of three new strand suppliers.</a:t>
            </a:r>
          </a:p>
          <a:p>
            <a:endParaRPr lang="en-US" sz="1200" dirty="0">
              <a:solidFill>
                <a:srgbClr val="FFC099"/>
              </a:solidFill>
              <a:latin typeface="Aptos" panose="020B000402020202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200" dirty="0">
                <a:highlight>
                  <a:srgbClr val="FFFF00"/>
                </a:highlight>
              </a:rPr>
              <a:t>The question would be, is it easy to ramp up the </a:t>
            </a:r>
          </a:p>
          <a:p>
            <a:r>
              <a:rPr lang="en-US" sz="1200" dirty="0">
                <a:highlight>
                  <a:srgbClr val="FFFF00"/>
                </a:highlight>
              </a:rPr>
              <a:t>production rate of Nb3Sn when there is enough </a:t>
            </a:r>
          </a:p>
          <a:p>
            <a:r>
              <a:rPr lang="en-US" sz="1200" dirty="0">
                <a:highlight>
                  <a:srgbClr val="FFFF00"/>
                </a:highlight>
              </a:rPr>
              <a:t>demand!</a:t>
            </a:r>
          </a:p>
          <a:p>
            <a:endParaRPr lang="en-US" sz="1200" dirty="0">
              <a:solidFill>
                <a:srgbClr val="FFC099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4EA3EBB-1BB5-DFF9-2ECD-C6116A17EAAE}"/>
              </a:ext>
            </a:extLst>
          </p:cNvPr>
          <p:cNvCxnSpPr>
            <a:cxnSpLocks/>
          </p:cNvCxnSpPr>
          <p:nvPr/>
        </p:nvCxnSpPr>
        <p:spPr>
          <a:xfrm>
            <a:off x="3707904" y="4635357"/>
            <a:ext cx="2016224" cy="400006"/>
          </a:xfrm>
          <a:prstGeom prst="straightConnector1">
            <a:avLst/>
          </a:prstGeom>
          <a:ln w="28575">
            <a:solidFill>
              <a:srgbClr val="A1C7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AA925D3-61CB-343F-13B0-D8D6EC1FF0CE}"/>
              </a:ext>
            </a:extLst>
          </p:cNvPr>
          <p:cNvSpPr txBox="1"/>
          <p:nvPr/>
        </p:nvSpPr>
        <p:spPr>
          <a:xfrm>
            <a:off x="5724128" y="4889149"/>
            <a:ext cx="38519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A1C7F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REBCO Tape in [km]?</a:t>
            </a:r>
          </a:p>
          <a:p>
            <a:r>
              <a:rPr lang="en-US" sz="1200" b="1" dirty="0">
                <a:solidFill>
                  <a:srgbClr val="A1C7F6"/>
                </a:solidFill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Since TF and PF coils do not use REBCO, expect</a:t>
            </a:r>
          </a:p>
          <a:p>
            <a:r>
              <a:rPr lang="en-US" sz="1200" b="1" dirty="0">
                <a:solidFill>
                  <a:srgbClr val="A1C7F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 length to be (quite) shorter than ARC-type</a:t>
            </a:r>
          </a:p>
          <a:p>
            <a:endParaRPr lang="en-US" sz="1200" b="1" dirty="0">
              <a:solidFill>
                <a:srgbClr val="A1C7F6"/>
              </a:solidFill>
              <a:latin typeface="Aptos" panose="020B000402020202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1C7F6"/>
                </a:solidFill>
                <a:effectLst/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6000 (kg) /  10.2 (kg/km) = 588 km </a:t>
            </a:r>
          </a:p>
          <a:p>
            <a:endParaRPr lang="en-US" sz="1200" b="1" dirty="0">
              <a:solidFill>
                <a:srgbClr val="A1C7F6"/>
              </a:solidFill>
              <a:latin typeface="Aptos" panose="020B000402020202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1C7F6"/>
                </a:solidFill>
                <a:latin typeface="Aptos" panose="020B000402020202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Approximately 600 km (smaller than ARC)</a:t>
            </a:r>
            <a:endParaRPr lang="en-US" sz="1200" b="1" dirty="0">
              <a:solidFill>
                <a:srgbClr val="A1C7F6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E16C3-026A-F21E-03AA-AC17F6C38F90}"/>
              </a:ext>
            </a:extLst>
          </p:cNvPr>
          <p:cNvSpPr txBox="1"/>
          <p:nvPr/>
        </p:nvSpPr>
        <p:spPr>
          <a:xfrm>
            <a:off x="5147683" y="4266576"/>
            <a:ext cx="39180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Assume Nb3Sn ~ 500 tons for EU-DEMO</a:t>
            </a:r>
          </a:p>
        </p:txBody>
      </p:sp>
    </p:spTree>
    <p:extLst>
      <p:ext uri="{BB962C8B-B14F-4D97-AF65-F5344CB8AC3E}">
        <p14:creationId xmlns:p14="http://schemas.microsoft.com/office/powerpoint/2010/main" val="161480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607CE-5479-29B7-6F2B-C95DCABF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for EU-DEMO?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252C0B-9A6A-B85B-DCD8-315F0DF77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found that for DTT (Divertor Tokamak Test), approximately 90 km of REBCO</a:t>
            </a:r>
          </a:p>
          <a:p>
            <a:pPr lvl="1"/>
            <a:r>
              <a:rPr lang="en-US" dirty="0"/>
              <a:t>Usage of SECAS: Stacked Enhanced Conductor for Advanced Solenoid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We postulate similar REBCO tape length for EU-DEMO as well, as it only employs REBCO     for central solenoid / </a:t>
            </a:r>
            <a:r>
              <a:rPr lang="en-US" dirty="0">
                <a:highlight>
                  <a:srgbClr val="FFFF00"/>
                </a:highlight>
              </a:rPr>
              <a:t>Assume ~100 km length (good enough?)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F2C7EF-0962-A2BE-FEA6-1B7B4AF65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712186-CBD7-B9F7-C6E2-CE2F60C86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2776"/>
            <a:ext cx="7539681" cy="4207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F99DA0-8007-5855-5350-FB171E2F4F4F}"/>
              </a:ext>
            </a:extLst>
          </p:cNvPr>
          <p:cNvSpPr txBox="1"/>
          <p:nvPr/>
        </p:nvSpPr>
        <p:spPr>
          <a:xfrm>
            <a:off x="2614573" y="3075057"/>
            <a:ext cx="39148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highlight>
                  <a:srgbClr val="A1C7F6"/>
                </a:highlight>
              </a:rPr>
              <a:t>DEPRECATED!</a:t>
            </a:r>
          </a:p>
        </p:txBody>
      </p:sp>
    </p:spTree>
    <p:extLst>
      <p:ext uri="{BB962C8B-B14F-4D97-AF65-F5344CB8AC3E}">
        <p14:creationId xmlns:p14="http://schemas.microsoft.com/office/powerpoint/2010/main" val="415154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9AA12-DDFF-84D1-AADB-94EC5FEFC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REBCO for EU-DEMO?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D7B05A-7DDD-862B-86B5-99AD8D0EAB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Need to do our best to convert ‘6 ton’ information for REBCO (Re-123) into [km]</a:t>
                </a:r>
              </a:p>
              <a:p>
                <a:pPr lvl="1"/>
                <a:r>
                  <a:rPr lang="en-US" dirty="0"/>
                  <a:t>Assume thickness 0.1 mm &amp; width 12 mm REBCO tape (retrieved from ARC)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The EU-DEMO paper states: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Postulate ~8.5 g/cc density for the REBCO tape (per km, 10.2 kg)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>
                    <a:solidFill>
                      <a:srgbClr val="3333FF"/>
                    </a:solidFill>
                    <a:highlight>
                      <a:srgbClr val="FFFF00"/>
                    </a:highlight>
                  </a:rPr>
                  <a:t>yields ~600 [km] </a:t>
                </a:r>
              </a:p>
              <a:p>
                <a:pPr lvl="2"/>
                <a:r>
                  <a:rPr lang="en-US" dirty="0"/>
                  <a:t>1 km of REBCO tape volume: 12 mm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0.1 mm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1.0 km = 1.2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10</a:t>
                </a:r>
                <a:r>
                  <a:rPr lang="en-US" baseline="30000" dirty="0"/>
                  <a:t>-3</a:t>
                </a:r>
                <a:r>
                  <a:rPr lang="en-US" dirty="0"/>
                  <a:t> m</a:t>
                </a:r>
                <a:r>
                  <a:rPr lang="en-US" baseline="30000" dirty="0"/>
                  <a:t>3</a:t>
                </a:r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5D7B05A-7DDD-862B-86B5-99AD8D0EAB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74A6BA-AD1A-B241-CF10-6048CBA2B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447437-7B5D-FB28-BA1E-0879BA3DA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9" y="1484784"/>
            <a:ext cx="4392488" cy="24168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22DE8A-ED63-B8C7-5613-3E3030696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1340768"/>
            <a:ext cx="2880320" cy="24207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2FB740-57AD-84B7-64D7-5E4F65B06B29}"/>
              </a:ext>
            </a:extLst>
          </p:cNvPr>
          <p:cNvSpPr txBox="1"/>
          <p:nvPr/>
        </p:nvSpPr>
        <p:spPr>
          <a:xfrm>
            <a:off x="7295119" y="3184658"/>
            <a:ext cx="1662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(from Hitarth’s work)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E389F-A197-B751-0720-ED58BDC14216}"/>
              </a:ext>
            </a:extLst>
          </p:cNvPr>
          <p:cNvSpPr txBox="1"/>
          <p:nvPr/>
        </p:nvSpPr>
        <p:spPr>
          <a:xfrm>
            <a:off x="509180" y="4145270"/>
            <a:ext cx="81256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realization of the HTS superconductor, Rare Earth elements are used as well as other elements such as Barium, Copper and Oxygen. </a:t>
            </a:r>
          </a:p>
          <a:p>
            <a:pPr algn="just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manufacturing of the tape, additional materials are used, such as Silver, Hastelloy and </a:t>
            </a:r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SnPb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US" sz="1400" b="0" i="0" u="none" strike="noStrike" baseline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Re-123 tape is made of Re-123 (~1 %), Hastelloy (~41 %), silver (~1 %) and </a:t>
            </a:r>
            <a:r>
              <a:rPr lang="en-US" sz="1400" b="0" i="0" u="none" strike="noStrike" baseline="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SnPb</a:t>
            </a:r>
            <a:r>
              <a:rPr lang="en-US" sz="1400" b="0" i="0" u="none" strike="noStrike" baseline="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solder (~57 %).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material inventory assessment regarding the magnetic field coils, the densities used are the following: </a:t>
            </a:r>
          </a:p>
          <a:p>
            <a:pPr algn="just"/>
            <a:r>
              <a:rPr lang="en-US" sz="1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8960 kg/m3, ρ</a:t>
            </a:r>
            <a:r>
              <a:rPr lang="en-US" sz="1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Nb3Sn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8950 kg/m3, </a:t>
            </a:r>
            <a:r>
              <a:rPr lang="el-GR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NbTi</a:t>
            </a:r>
            <a:r>
              <a:rPr lang="en-US" sz="1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6000 kg/m3, </a:t>
            </a:r>
            <a:r>
              <a:rPr lang="el-GR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Re-123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5000 kg/m3, </a:t>
            </a:r>
            <a:r>
              <a:rPr lang="el-GR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</a:t>
            </a: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7860 kg/m3.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160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D54E8-204D-F72B-6433-50074DE5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EU-DEMO Materials Inventory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BDB70AF-2404-9DCF-9ADA-63C3F670D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950" y="1145664"/>
            <a:ext cx="8928100" cy="456667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F60A73-8648-2C39-BECA-E00E604D8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440B2F3-F8ED-95B1-94DF-05A4F66F10F5}"/>
              </a:ext>
            </a:extLst>
          </p:cNvPr>
          <p:cNvCxnSpPr>
            <a:cxnSpLocks/>
          </p:cNvCxnSpPr>
          <p:nvPr/>
        </p:nvCxnSpPr>
        <p:spPr>
          <a:xfrm>
            <a:off x="241804" y="3323085"/>
            <a:ext cx="865829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801DD1B-6E3B-B679-0628-1AA0482CBD54}"/>
              </a:ext>
            </a:extLst>
          </p:cNvPr>
          <p:cNvCxnSpPr>
            <a:cxnSpLocks/>
          </p:cNvCxnSpPr>
          <p:nvPr/>
        </p:nvCxnSpPr>
        <p:spPr>
          <a:xfrm>
            <a:off x="284218" y="4899640"/>
            <a:ext cx="865829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8369C7-7ED3-6CE1-970C-A13F42920025}"/>
              </a:ext>
            </a:extLst>
          </p:cNvPr>
          <p:cNvSpPr txBox="1"/>
          <p:nvPr/>
        </p:nvSpPr>
        <p:spPr>
          <a:xfrm>
            <a:off x="241804" y="5748666"/>
            <a:ext cx="8451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Postulates refurbishment of materials / Since Lithium-6 is consumed &amp; Irradiation damage</a:t>
            </a:r>
          </a:p>
        </p:txBody>
      </p:sp>
    </p:spTree>
    <p:extLst>
      <p:ext uri="{BB962C8B-B14F-4D97-AF65-F5344CB8AC3E}">
        <p14:creationId xmlns:p14="http://schemas.microsoft.com/office/powerpoint/2010/main" val="2175560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3650A7-19F0-24C5-BDCE-00ED604F0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EU-DEMO Materials Inventory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71D5050-CC7A-743C-997F-D7CDE99FBA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620688"/>
            <a:ext cx="4680520" cy="383311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E2FFD8-8F27-67FB-7CAF-CC9879D2F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C87BBE-DEB6-8EB1-25FB-52DD04D39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582" y="3693067"/>
            <a:ext cx="4896544" cy="30411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74AAB4-0A4A-D06A-D02F-32E46FCC32F6}"/>
              </a:ext>
            </a:extLst>
          </p:cNvPr>
          <p:cNvSpPr txBox="1"/>
          <p:nvPr/>
        </p:nvSpPr>
        <p:spPr>
          <a:xfrm>
            <a:off x="4932040" y="764704"/>
            <a:ext cx="41044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Production capability of KALOS-ACB pebble &amp; </a:t>
            </a:r>
            <a:r>
              <a:rPr lang="en-US" sz="1400" dirty="0" err="1"/>
              <a:t>BeTi</a:t>
            </a:r>
            <a:r>
              <a:rPr lang="en-US" sz="1400" dirty="0"/>
              <a:t> unknown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Enough raw material (apart from processing)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Enough </a:t>
            </a:r>
            <a:r>
              <a:rPr lang="en-US" sz="1400" dirty="0" err="1"/>
              <a:t>NbTi</a:t>
            </a:r>
            <a:r>
              <a:rPr lang="en-US" sz="1400" dirty="0"/>
              <a:t>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Need to inquire Nb3Sn production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ighlight>
                  <a:srgbClr val="FFFF00"/>
                </a:highlight>
              </a:rPr>
              <a:t>Need to inquire REBCO requirement </a:t>
            </a:r>
            <a:r>
              <a:rPr lang="en-US" sz="1400" dirty="0"/>
              <a:t>(though 100 km seems to be a good guess)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E5E97F9-45AF-B040-DCB0-BC6A05C5029C}"/>
              </a:ext>
            </a:extLst>
          </p:cNvPr>
          <p:cNvCxnSpPr>
            <a:cxnSpLocks/>
          </p:cNvCxnSpPr>
          <p:nvPr/>
        </p:nvCxnSpPr>
        <p:spPr>
          <a:xfrm>
            <a:off x="4227890" y="4797152"/>
            <a:ext cx="4448566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E2DE338-5E19-8B15-0466-B9D31389FA07}"/>
              </a:ext>
            </a:extLst>
          </p:cNvPr>
          <p:cNvSpPr txBox="1"/>
          <p:nvPr/>
        </p:nvSpPr>
        <p:spPr>
          <a:xfrm>
            <a:off x="225874" y="4535684"/>
            <a:ext cx="3795708" cy="13849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</a:rPr>
              <a:t>Multiplication estimated factors have been 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</a:rPr>
              <a:t>applied to the Lithium inventory resulting  </a:t>
            </a:r>
          </a:p>
          <a:p>
            <a:pPr algn="l"/>
            <a:r>
              <a:rPr lang="en-US" sz="1400" b="0" i="0" u="none" strike="noStrike" baseline="0" dirty="0">
                <a:solidFill>
                  <a:srgbClr val="000000"/>
                </a:solidFill>
              </a:rPr>
              <a:t>from breeding material estimated in </a:t>
            </a:r>
            <a:r>
              <a:rPr lang="en-US" sz="1400" b="0" i="0" u="none" strike="noStrike" baseline="0" dirty="0">
                <a:solidFill>
                  <a:srgbClr val="2197D2"/>
                </a:solidFill>
              </a:rPr>
              <a:t>Table 3 </a:t>
            </a:r>
          </a:p>
          <a:p>
            <a:pPr algn="l"/>
            <a:endParaRPr lang="en-US" sz="1400" b="0" i="0" u="none" strike="noStrike" baseline="0" dirty="0">
              <a:solidFill>
                <a:srgbClr val="000000"/>
              </a:solidFill>
            </a:endParaRPr>
          </a:p>
          <a:p>
            <a:pPr algn="l"/>
            <a:r>
              <a:rPr lang="ko-KR" altLang="en-US" sz="1400" b="0" i="0" u="none" strike="noStrike" baseline="0" dirty="0" err="1">
                <a:solidFill>
                  <a:srgbClr val="000000"/>
                </a:solidFill>
              </a:rPr>
              <a:t>ㅁ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baseline="0" dirty="0">
                <a:solidFill>
                  <a:srgbClr val="000000"/>
                </a:solidFill>
              </a:rPr>
              <a:t>account for 90 % and 60 % enrichment for WCLL and HCPB concepts.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14656A-8670-875E-B444-E8F3ED5B0E93}"/>
              </a:ext>
            </a:extLst>
          </p:cNvPr>
          <p:cNvSpPr txBox="1"/>
          <p:nvPr/>
        </p:nvSpPr>
        <p:spPr>
          <a:xfrm>
            <a:off x="133812" y="5933215"/>
            <a:ext cx="35974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Need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to divide by 13.6 and 9 to get mass of</a:t>
            </a:r>
          </a:p>
          <a:p>
            <a:r>
              <a:rPr lang="en-US" sz="1400" dirty="0">
                <a:solidFill>
                  <a:srgbClr val="FF0000"/>
                </a:solidFill>
              </a:rPr>
              <a:t>enriched lithium for each design concepts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D3E84D2-0605-9AA3-D1F3-1E11F489325C}"/>
              </a:ext>
            </a:extLst>
          </p:cNvPr>
          <p:cNvCxnSpPr>
            <a:cxnSpLocks/>
          </p:cNvCxnSpPr>
          <p:nvPr/>
        </p:nvCxnSpPr>
        <p:spPr>
          <a:xfrm>
            <a:off x="4227890" y="5445224"/>
            <a:ext cx="4448566" cy="0"/>
          </a:xfrm>
          <a:prstGeom prst="line">
            <a:avLst/>
          </a:prstGeom>
          <a:ln w="28575">
            <a:solidFill>
              <a:srgbClr val="3333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78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96C99-D2AE-F4A3-944F-B1DC0764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EU-DEMO Materials Inventory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1FEC09-A6C4-0F10-90B9-698DA8AEA4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6" y="3105186"/>
                <a:ext cx="8928992" cy="3395100"/>
              </a:xfrm>
            </p:spPr>
            <p:txBody>
              <a:bodyPr/>
              <a:lstStyle/>
              <a:p>
                <a:r>
                  <a:rPr lang="en-US" dirty="0"/>
                  <a:t>Will enumerate required materials for each concept (bit of more polished manner)</a:t>
                </a:r>
              </a:p>
              <a:p>
                <a:pPr lvl="1"/>
                <a:r>
                  <a:rPr lang="en-US" dirty="0"/>
                  <a:t>Required amount of enriched Lithium (Note that raw Lithium is abundant!)</a:t>
                </a:r>
              </a:p>
              <a:p>
                <a:pPr lvl="2"/>
                <a:r>
                  <a:rPr lang="en-US" dirty="0"/>
                  <a:t>(WCLL) </a:t>
                </a:r>
                <a:r>
                  <a:rPr lang="en-US" dirty="0" err="1"/>
                  <a:t>PbLi</a:t>
                </a:r>
                <a:r>
                  <a:rPr lang="en-US" dirty="0"/>
                  <a:t>: 9,483 tons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2.57 = </a:t>
                </a:r>
                <a:r>
                  <a:rPr lang="en-US" dirty="0">
                    <a:highlight>
                      <a:srgbClr val="FFFF00"/>
                    </a:highlight>
                  </a:rPr>
                  <a:t>24,371 tons </a:t>
                </a:r>
                <a:r>
                  <a:rPr lang="en-US" dirty="0"/>
                  <a:t>/ 90% Enriched Lithium: </a:t>
                </a:r>
                <a:r>
                  <a:rPr lang="en-US" dirty="0">
                    <a:highlight>
                      <a:srgbClr val="FFFF00"/>
                    </a:highlight>
                  </a:rPr>
                  <a:t>133.4 tons</a:t>
                </a:r>
              </a:p>
              <a:p>
                <a:pPr lvl="2"/>
                <a:r>
                  <a:rPr lang="en-US" dirty="0"/>
                  <a:t>(HCPB) KALOS-ACB: 160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</a:t>
                </a:r>
                <a:r>
                  <a:rPr lang="en-US" dirty="0">
                    <a:highlight>
                      <a:srgbClr val="FFFF00"/>
                    </a:highlight>
                  </a:rPr>
                  <a:t>296 tons  </a:t>
                </a:r>
                <a:r>
                  <a:rPr lang="en-US" dirty="0"/>
                  <a:t>/ 60% Enriched Lithium : </a:t>
                </a:r>
                <a:r>
                  <a:rPr lang="en-US" dirty="0">
                    <a:highlight>
                      <a:srgbClr val="FFFF00"/>
                    </a:highlight>
                  </a:rPr>
                  <a:t>56 tons</a:t>
                </a:r>
              </a:p>
              <a:p>
                <a:pPr lvl="1"/>
                <a:r>
                  <a:rPr lang="en-US" dirty="0"/>
                  <a:t>Since no (or very limited) information for </a:t>
                </a:r>
                <a:r>
                  <a:rPr lang="en-US" dirty="0" err="1"/>
                  <a:t>BeTi</a:t>
                </a:r>
                <a:r>
                  <a:rPr lang="en-US" dirty="0"/>
                  <a:t> and KALOS-ACB pebble, will neglect it </a:t>
                </a:r>
              </a:p>
              <a:p>
                <a:pPr lvl="2"/>
                <a:r>
                  <a:rPr lang="en-US" dirty="0"/>
                  <a:t>Instead, we can calculate required production rate from the simulation result</a:t>
                </a:r>
              </a:p>
              <a:p>
                <a:pPr lvl="3"/>
                <a:r>
                  <a:rPr lang="en-US" dirty="0" err="1"/>
                  <a:t>BeTi</a:t>
                </a:r>
                <a:r>
                  <a:rPr lang="en-US" dirty="0"/>
                  <a:t>: 613 tons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</a:t>
                </a:r>
                <a:r>
                  <a:rPr lang="en-US" dirty="0">
                    <a:highlight>
                      <a:srgbClr val="FFFF00"/>
                    </a:highlight>
                  </a:rPr>
                  <a:t>1134 tons </a:t>
                </a:r>
                <a:r>
                  <a:rPr lang="en-US" dirty="0"/>
                  <a:t>/ KALOS-ACB: 160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</a:t>
                </a:r>
                <a:r>
                  <a:rPr lang="en-US" dirty="0">
                    <a:highlight>
                      <a:srgbClr val="FFFF00"/>
                    </a:highlight>
                  </a:rPr>
                  <a:t>296 tons</a:t>
                </a:r>
              </a:p>
              <a:p>
                <a:pPr lvl="1"/>
                <a:r>
                  <a:rPr lang="en-US" dirty="0"/>
                  <a:t>REBCO tape requirement (tentatively) </a:t>
                </a:r>
                <a:r>
                  <a:rPr lang="en-US" dirty="0">
                    <a:highlight>
                      <a:srgbClr val="FFFF00"/>
                    </a:highlight>
                  </a:rPr>
                  <a:t>600 km </a:t>
                </a:r>
                <a:r>
                  <a:rPr lang="en-US" dirty="0"/>
                  <a:t>for DEMO Design</a:t>
                </a:r>
              </a:p>
              <a:p>
                <a:pPr lvl="2"/>
                <a:r>
                  <a:rPr lang="en-US" dirty="0"/>
                  <a:t>Expect to be less stringent compared to ARC of </a:t>
                </a:r>
                <a:r>
                  <a:rPr lang="en-US" dirty="0" err="1"/>
                  <a:t>Hammir</a:t>
                </a:r>
                <a:r>
                  <a:rPr lang="en-US" dirty="0"/>
                  <a:t> design concepts</a:t>
                </a:r>
              </a:p>
              <a:p>
                <a:pPr lvl="1"/>
                <a:r>
                  <a:rPr lang="en-US" dirty="0"/>
                  <a:t>WCLL concept 5.0 </a:t>
                </a:r>
                <a:r>
                  <a:rPr lang="en-US" dirty="0" err="1"/>
                  <a:t>GWth</a:t>
                </a:r>
                <a:r>
                  <a:rPr lang="en-US" dirty="0"/>
                  <a:t> / HCPB concept 3.6 </a:t>
                </a:r>
                <a:r>
                  <a:rPr lang="en-US" dirty="0" err="1"/>
                  <a:t>GWth</a:t>
                </a:r>
                <a:r>
                  <a:rPr lang="en-US" dirty="0"/>
                  <a:t> / DEMO POWER 1.943 </a:t>
                </a:r>
                <a:r>
                  <a:rPr lang="en-US" dirty="0" err="1"/>
                  <a:t>GWth</a:t>
                </a:r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81FEC09-A6C4-0F10-90B9-698DA8AEA4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6" y="3105186"/>
                <a:ext cx="8928992" cy="33951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9A5A2-0657-F457-83C7-F4D7DAC80F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1A44AB-07C1-AE45-58D5-20515E298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" y="692696"/>
            <a:ext cx="5316778" cy="236201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C00F758-8064-988A-920A-236274A17492}"/>
              </a:ext>
            </a:extLst>
          </p:cNvPr>
          <p:cNvCxnSpPr>
            <a:cxnSpLocks/>
          </p:cNvCxnSpPr>
          <p:nvPr/>
        </p:nvCxnSpPr>
        <p:spPr>
          <a:xfrm>
            <a:off x="323528" y="1886352"/>
            <a:ext cx="4968552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38C06F-2DBE-C672-B666-C09797EFAFCB}"/>
              </a:ext>
            </a:extLst>
          </p:cNvPr>
          <p:cNvSpPr txBox="1"/>
          <p:nvPr/>
        </p:nvSpPr>
        <p:spPr>
          <a:xfrm>
            <a:off x="5360294" y="2443217"/>
            <a:ext cx="359746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(Multiplied by 2.57 and 1.85 w.r.t Table 4)</a:t>
            </a:r>
          </a:p>
          <a:p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Need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</a:rPr>
              <a:t>to divide by 13.6 and 9 to get mass of</a:t>
            </a:r>
          </a:p>
          <a:p>
            <a:r>
              <a:rPr 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enriched lithium </a:t>
            </a:r>
            <a:r>
              <a:rPr lang="en-US" sz="1400" dirty="0">
                <a:solidFill>
                  <a:srgbClr val="FF0000"/>
                </a:solidFill>
              </a:rPr>
              <a:t>for each design concepts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C0D030-8DDF-2AEB-0220-29D109F08203}"/>
              </a:ext>
            </a:extLst>
          </p:cNvPr>
          <p:cNvSpPr txBox="1"/>
          <p:nvPr/>
        </p:nvSpPr>
        <p:spPr>
          <a:xfrm>
            <a:off x="4679365" y="671193"/>
            <a:ext cx="43172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HAD BEEN SCALED FROM EU-DEMO DESIGN!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71758EC-6074-5A06-8DB7-0D1C82307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294" y="1029445"/>
            <a:ext cx="3597460" cy="132028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CE46E8C-9435-7299-A8D3-A458ABFA971F}"/>
              </a:ext>
            </a:extLst>
          </p:cNvPr>
          <p:cNvCxnSpPr/>
          <p:nvPr/>
        </p:nvCxnSpPr>
        <p:spPr>
          <a:xfrm>
            <a:off x="5076056" y="1886352"/>
            <a:ext cx="284238" cy="6532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67CA41-8C22-8351-A894-48F9B0A13ECB}"/>
              </a:ext>
            </a:extLst>
          </p:cNvPr>
          <p:cNvCxnSpPr>
            <a:cxnSpLocks/>
          </p:cNvCxnSpPr>
          <p:nvPr/>
        </p:nvCxnSpPr>
        <p:spPr>
          <a:xfrm>
            <a:off x="323528" y="2604256"/>
            <a:ext cx="4448566" cy="0"/>
          </a:xfrm>
          <a:prstGeom prst="line">
            <a:avLst/>
          </a:prstGeom>
          <a:ln w="28575">
            <a:solidFill>
              <a:srgbClr val="3333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027614-FA0D-9CC3-9674-7E0660C7660E}"/>
              </a:ext>
            </a:extLst>
          </p:cNvPr>
          <p:cNvSpPr txBox="1"/>
          <p:nvPr/>
        </p:nvSpPr>
        <p:spPr>
          <a:xfrm>
            <a:off x="113652" y="2951997"/>
            <a:ext cx="5293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3333FF"/>
                </a:solidFill>
              </a:rPr>
              <a:t>Amount of Nb does not change (no scaling w.r.t original design)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9FD72-33C0-FD16-0C78-CFA8BB3DF442}"/>
              </a:ext>
            </a:extLst>
          </p:cNvPr>
          <p:cNvSpPr txBox="1"/>
          <p:nvPr/>
        </p:nvSpPr>
        <p:spPr>
          <a:xfrm>
            <a:off x="2666737" y="2574497"/>
            <a:ext cx="18646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highlight>
                  <a:srgbClr val="FFFF00"/>
                </a:highlight>
              </a:rPr>
              <a:t>Table4 Be multiplied by 1.85</a:t>
            </a:r>
          </a:p>
        </p:txBody>
      </p:sp>
    </p:spTree>
    <p:extLst>
      <p:ext uri="{BB962C8B-B14F-4D97-AF65-F5344CB8AC3E}">
        <p14:creationId xmlns:p14="http://schemas.microsoft.com/office/powerpoint/2010/main" val="158866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655A4-C6BF-117F-C4AC-AADEDD70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EU-DEMO WCLL Concept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8175BF-AA89-2731-F054-289455DC31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Thermal power of 5.0 </a:t>
                </a:r>
                <a:r>
                  <a:rPr lang="en-US" dirty="0" err="1"/>
                  <a:t>GWth</a:t>
                </a:r>
                <a:r>
                  <a:rPr lang="en-US" dirty="0"/>
                  <a:t> / Consumes 550 [kg/year] of Lithium-6</a:t>
                </a:r>
              </a:p>
              <a:p>
                <a:pPr lvl="1"/>
                <a:r>
                  <a:rPr lang="en-US" dirty="0"/>
                  <a:t>For deployment 24,371 tons of </a:t>
                </a:r>
                <a:r>
                  <a:rPr lang="en-US" dirty="0" err="1"/>
                  <a:t>PbLi</a:t>
                </a:r>
                <a:r>
                  <a:rPr lang="en-US" dirty="0"/>
                  <a:t> / Lithium (90%) 133.4 tons / Li-6: 120 tons </a:t>
                </a:r>
              </a:p>
              <a:p>
                <a:pPr lvl="2"/>
                <a:r>
                  <a:rPr lang="en-US" dirty="0"/>
                  <a:t>The lead should be replenished (multiplier) but it is abundant, so neglected</a:t>
                </a:r>
              </a:p>
              <a:p>
                <a:pPr lvl="1"/>
                <a:r>
                  <a:rPr lang="en-US" dirty="0"/>
                  <a:t>Nb3Sn: 500 tons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2.57 = 1,285 tons &amp; REBCO: 600 km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2.57 = 1,542 [km]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Assuming </a:t>
                </a:r>
                <a:r>
                  <a:rPr lang="en-US" dirty="0">
                    <a:highlight>
                      <a:srgbClr val="FFFF00"/>
                    </a:highlight>
                  </a:rPr>
                  <a:t>constant ASPECT RATIO</a:t>
                </a:r>
                <a:r>
                  <a:rPr lang="en-US" dirty="0"/>
                  <a:t>, we postulate 1.06 times of increase</a:t>
                </a:r>
              </a:p>
              <a:p>
                <a:pPr lvl="1"/>
                <a:r>
                  <a:rPr lang="en-US" dirty="0"/>
                  <a:t>Nb3Sn: 500 tons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1.06 = 530 tons &amp; REBCO: 600 km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1.06 = 636 [km]</a:t>
                </a:r>
              </a:p>
              <a:p>
                <a:pPr lvl="1"/>
                <a:r>
                  <a:rPr lang="en-US" dirty="0"/>
                  <a:t>Postulating proportionality w.r.t cubic of radius: (1.06)</a:t>
                </a:r>
                <a:r>
                  <a:rPr lang="en-US" baseline="30000" dirty="0"/>
                  <a:t>3</a:t>
                </a:r>
                <a:r>
                  <a:rPr lang="en-US" dirty="0"/>
                  <a:t> = 1.19</a:t>
                </a:r>
              </a:p>
              <a:p>
                <a:pPr lvl="1"/>
                <a:r>
                  <a:rPr lang="en-US" dirty="0"/>
                  <a:t>Nb3Sn: 500 tons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1.19 = 595 tons &amp; REBCO: 600 km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1.19 = 714 [km]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All the other materials except for enriched Lithium and Nb3Sn procurement will not incur </a:t>
                </a:r>
              </a:p>
              <a:p>
                <a:r>
                  <a:rPr lang="en-US" dirty="0"/>
                  <a:t>bottleneck issue (even for REBCO since much less than ARC design)</a:t>
                </a:r>
              </a:p>
              <a:p>
                <a:pPr lvl="1"/>
                <a:r>
                  <a:rPr lang="en-US" dirty="0"/>
                  <a:t>For modelling (in </a:t>
                </a:r>
                <a:r>
                  <a:rPr lang="en-US" dirty="0" err="1"/>
                  <a:t>Cyclus</a:t>
                </a:r>
                <a:r>
                  <a:rPr lang="en-US" dirty="0"/>
                  <a:t> simulation), consider (1) Enriched Lithium, (2) Nb3Sn, (3) REBCO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Note that (due to lack of info) EUROFER modelling is neglected for all design concepts</a:t>
                </a:r>
              </a:p>
              <a:p>
                <a:pPr lvl="1"/>
                <a:r>
                  <a:rPr lang="en-US" dirty="0"/>
                  <a:t>We assume enough EUROFER for all design concepts (including ARC, </a:t>
                </a:r>
                <a:r>
                  <a:rPr lang="en-US" dirty="0" err="1"/>
                  <a:t>Hammir</a:t>
                </a:r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8175BF-AA89-2731-F054-289455DC31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B40AC6-E0C3-B094-334F-05FA591CA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F1B442-A8A8-78E8-B6CF-0AD755A0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2" y="5790936"/>
            <a:ext cx="5328594" cy="436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82EF44-CA4E-8332-B5A4-DBE567767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2" y="6274298"/>
            <a:ext cx="5483409" cy="4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62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2BDD9-5C81-2C12-5585-397002E5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EU-DEMO HCPB Concept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F6995-76F5-34EB-ADE5-D77A431D71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Thermal power of 3.6 </a:t>
                </a:r>
                <a:r>
                  <a:rPr lang="en-US" dirty="0" err="1"/>
                  <a:t>GWth</a:t>
                </a:r>
                <a:r>
                  <a:rPr lang="en-US" dirty="0"/>
                  <a:t> / Consumes 396 [kg/year] of Lithium-6</a:t>
                </a:r>
              </a:p>
              <a:p>
                <a:pPr lvl="1"/>
                <a:r>
                  <a:rPr lang="en-US" dirty="0"/>
                  <a:t>For deployment 296 tons of KALOS-ACB / Lithium (60%) 56 tons / Li-6: 33.6 tons</a:t>
                </a:r>
              </a:p>
              <a:p>
                <a:pPr lvl="2"/>
                <a:r>
                  <a:rPr lang="en-US" dirty="0"/>
                  <a:t>May require relatively regular Lithium-6 refueling to the reactor </a:t>
                </a:r>
              </a:p>
              <a:p>
                <a:pPr lvl="1"/>
                <a:r>
                  <a:rPr lang="en-US" dirty="0"/>
                  <a:t>Nb3Sn: 500 tons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925 tons &amp; REBCO: 600 km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1,110 [km]</a:t>
                </a:r>
              </a:p>
              <a:p>
                <a:pPr lvl="1"/>
                <a:r>
                  <a:rPr lang="en-US" dirty="0" err="1"/>
                  <a:t>BeTi</a:t>
                </a:r>
                <a:r>
                  <a:rPr lang="en-US" dirty="0"/>
                  <a:t>: 613 tons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1.85 = 1,134 tons (Includes 787 tons of Be) </a:t>
                </a:r>
              </a:p>
              <a:p>
                <a:pPr lvl="2"/>
                <a:r>
                  <a:rPr lang="en-US" dirty="0"/>
                  <a:t>For every 10 yrs, 196 tons of Be replenished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All the other materials except for enriched Lithium and Nb3Sn procurement will not incur </a:t>
                </a:r>
              </a:p>
              <a:p>
                <a:r>
                  <a:rPr lang="en-US" dirty="0"/>
                  <a:t>bottleneck issue (even for REBCO since much less than ARC design)</a:t>
                </a:r>
              </a:p>
              <a:p>
                <a:pPr lvl="1"/>
                <a:r>
                  <a:rPr lang="en-US" dirty="0"/>
                  <a:t>For modelling (in </a:t>
                </a:r>
                <a:r>
                  <a:rPr lang="en-US" dirty="0" err="1"/>
                  <a:t>Cyclus</a:t>
                </a:r>
                <a:r>
                  <a:rPr lang="en-US" dirty="0"/>
                  <a:t>), consider (1) Enriched Lithium, (2) Nb3Sn, (3) REBCO, (4) </a:t>
                </a:r>
                <a:r>
                  <a:rPr lang="en-US" dirty="0" err="1"/>
                  <a:t>BeTi</a:t>
                </a:r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Note that (due to lack of info) EUROFER modelling is neglected for all design concepts</a:t>
                </a:r>
              </a:p>
              <a:p>
                <a:pPr lvl="1"/>
                <a:r>
                  <a:rPr lang="en-US" dirty="0"/>
                  <a:t>We assume enough EUROFER for all design concepts (including ARC, </a:t>
                </a:r>
                <a:r>
                  <a:rPr lang="en-US" dirty="0" err="1"/>
                  <a:t>Hammir</a:t>
                </a:r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Note that we neglect KALOS-ACB and </a:t>
                </a:r>
                <a:r>
                  <a:rPr lang="en-US" dirty="0" err="1"/>
                  <a:t>BeTi</a:t>
                </a:r>
                <a:r>
                  <a:rPr lang="en-US" dirty="0"/>
                  <a:t> production </a:t>
                </a:r>
              </a:p>
              <a:p>
                <a:pPr lvl="1"/>
                <a:r>
                  <a:rPr lang="en-US" dirty="0"/>
                  <a:t>No available (or very limited) information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FF6995-76F5-34EB-ADE5-D77A431D71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56BFFA-D300-BF9E-06FD-B842AD4AE5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287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6C5C5-26A0-E862-5A6C-4E629B7C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Demand Scenario?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21005D-ACAD-4E9E-24DC-B3F7321E5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try the following scenario included in the paper: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9A04AB-26F1-3393-7692-22D8BE97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24EB8E-4C27-E4B0-7CCF-89D0BE22B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90" y="1412776"/>
            <a:ext cx="785542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72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13B1E-D3C6-9DF6-8A63-6A0019840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Demand Scenario?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ED9F976-B663-1B70-DEE9-13ECC044B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441" y="1126786"/>
            <a:ext cx="8183117" cy="4867954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480E34-5D49-DADA-D7CB-4507A7F99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1982901-BCC8-449F-9553-B07C9B542B1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986C10-5CF3-D7D6-B049-1C531183A115}"/>
              </a:ext>
            </a:extLst>
          </p:cNvPr>
          <p:cNvSpPr/>
          <p:nvPr/>
        </p:nvSpPr>
        <p:spPr>
          <a:xfrm>
            <a:off x="2635099" y="1104841"/>
            <a:ext cx="4248472" cy="2859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C86EB-33A6-C661-C9E0-D0FF1A587F9B}"/>
              </a:ext>
            </a:extLst>
          </p:cNvPr>
          <p:cNvSpPr txBox="1"/>
          <p:nvPr/>
        </p:nvSpPr>
        <p:spPr>
          <a:xfrm>
            <a:off x="586256" y="1247836"/>
            <a:ext cx="60625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1.2 k</a:t>
            </a:r>
          </a:p>
        </p:txBody>
      </p:sp>
    </p:spTree>
    <p:extLst>
      <p:ext uri="{BB962C8B-B14F-4D97-AF65-F5344CB8AC3E}">
        <p14:creationId xmlns:p14="http://schemas.microsoft.com/office/powerpoint/2010/main" val="43712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RDTL_PPT_Template_(20%_cooler)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dtl_v2">
      <a:majorFont>
        <a:latin typeface="Book Antiqua"/>
        <a:ea typeface="맑은 고딕"/>
        <a:cs typeface=""/>
      </a:majorFont>
      <a:minorFont>
        <a:latin typeface="Book Antiqua"/>
        <a:ea typeface="맑은 고딕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RDTL_PPT_Template_(20%_cooler)</Template>
  <TotalTime>33570</TotalTime>
  <Words>1505</Words>
  <Application>Microsoft Office PowerPoint</Application>
  <PresentationFormat>화면 슬라이드 쇼(4:3)</PresentationFormat>
  <Paragraphs>176</Paragraphs>
  <Slides>14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Euclid</vt:lpstr>
      <vt:lpstr>맑은 고딕</vt:lpstr>
      <vt:lpstr>Aptos</vt:lpstr>
      <vt:lpstr>Arial</vt:lpstr>
      <vt:lpstr>Book Antiqua</vt:lpstr>
      <vt:lpstr>Cambria Math</vt:lpstr>
      <vt:lpstr>Times New Roman</vt:lpstr>
      <vt:lpstr>RDTL_PPT_Template_(20%_cooler)</vt:lpstr>
      <vt:lpstr>EU-DEMO Overview</vt:lpstr>
      <vt:lpstr>EU-DEMO Overview</vt:lpstr>
      <vt:lpstr>EU-DEMO Overview</vt:lpstr>
      <vt:lpstr>KALOS-ACB Pebbles</vt:lpstr>
      <vt:lpstr>EU-DEMO (No Replacement Inventory)</vt:lpstr>
      <vt:lpstr>REBCO for EU-DEMO?</vt:lpstr>
      <vt:lpstr>REBCO for EU-DEMO?</vt:lpstr>
      <vt:lpstr>EU-DEMO Materials Inventory</vt:lpstr>
      <vt:lpstr>EU-DEMO Materials Inventory</vt:lpstr>
      <vt:lpstr>EU-DEMO Materials Inventory</vt:lpstr>
      <vt:lpstr>EU-DEMO WCLL Concept</vt:lpstr>
      <vt:lpstr>EU-DEMO HCPB Concept</vt:lpstr>
      <vt:lpstr>Power Demand Scenario?</vt:lpstr>
      <vt:lpstr>Power Demand Scenario?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Impacts of Xe-135m on Xenon Reactivity  in Thermal Reactors</dc:title>
  <dc:creator>Windows 사용자</dc:creator>
  <cp:lastModifiedBy>Taesuk Oh</cp:lastModifiedBy>
  <cp:revision>929</cp:revision>
  <cp:lastPrinted>2014-09-26T06:44:14Z</cp:lastPrinted>
  <dcterms:created xsi:type="dcterms:W3CDTF">2013-05-26T12:21:08Z</dcterms:created>
  <dcterms:modified xsi:type="dcterms:W3CDTF">2026-06-08T21:21:26Z</dcterms:modified>
</cp:coreProperties>
</file>