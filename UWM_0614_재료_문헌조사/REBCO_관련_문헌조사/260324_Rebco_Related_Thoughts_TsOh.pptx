
<file path=[Content_Types].xml><?xml version="1.0" encoding="utf-8"?>
<Types xmlns="http://schemas.openxmlformats.org/package/2006/content-types"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8" autoAdjust="0"/>
    <p:restoredTop sz="96391" autoAdjust="0"/>
  </p:normalViewPr>
  <p:slideViewPr>
    <p:cSldViewPr>
      <p:cViewPr varScale="1">
        <p:scale>
          <a:sx n="100" d="100"/>
          <a:sy n="100" d="100"/>
        </p:scale>
        <p:origin x="1716" y="90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2026-05-26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Magnetic Winding Pack – REBCO Tapes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Despite recent progress on High Temperature Superconductor (HTS) cables</a:t>
            </a:r>
          </a:p>
          <a:p>
            <a:pPr lvl="1"/>
            <a:r>
              <a:rPr lang="en-US" altLang="ko-KR" dirty="0"/>
              <a:t>(1) quench protection and (2) winding pack stress management remain to be outstanding issues for large scale applications for fusion.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Quenching?</a:t>
            </a:r>
          </a:p>
          <a:p>
            <a:pPr lvl="1"/>
            <a:r>
              <a:rPr lang="en-US" dirty="0"/>
              <a:t>Transition from </a:t>
            </a:r>
            <a:r>
              <a:rPr lang="en-US" b="1" dirty="0"/>
              <a:t>superconducting state → normal resistive state</a:t>
            </a:r>
          </a:p>
          <a:p>
            <a:pPr lvl="1"/>
            <a:r>
              <a:rPr lang="en-US" dirty="0"/>
              <a:t>Causes </a:t>
            </a:r>
            <a:r>
              <a:rPr lang="en-US" b="1" dirty="0"/>
              <a:t>sudden heat generation (J²R heating)</a:t>
            </a:r>
          </a:p>
          <a:p>
            <a:pPr lvl="1"/>
            <a:r>
              <a:rPr lang="en-US" dirty="0"/>
              <a:t>Can lead to </a:t>
            </a:r>
            <a:r>
              <a:rPr lang="en-US" b="1" dirty="0"/>
              <a:t>thermal runaway and magnet damage</a:t>
            </a:r>
            <a:r>
              <a:rPr lang="en-US" dirty="0"/>
              <a:t> if not controlled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REBCO (Rare Earth Barium Copper Oxide) Tape:</a:t>
            </a:r>
          </a:p>
          <a:p>
            <a:pPr lvl="1"/>
            <a:r>
              <a:rPr lang="en-US" altLang="ko-KR" dirty="0"/>
              <a:t>Thickness ~ 0.1 mm / Width ~ 10 mm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9D078B-C1D1-1AE3-D29A-3E85B1E82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221088"/>
            <a:ext cx="4608512" cy="2117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E24A17-675B-E29A-B9E2-CBDC52B2C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6" y="3227119"/>
            <a:ext cx="3705985" cy="311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2019-BF96-6230-61AA-79B9557FE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Magnetic Winding Pack – REBCO Tapes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BDC4D-3F04-59F3-4139-EB8DCDFEE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magnetic winding pact does not solely comprise of REBCO tape</a:t>
            </a:r>
          </a:p>
          <a:p>
            <a:pPr lvl="1"/>
            <a:r>
              <a:rPr lang="en-US" dirty="0"/>
              <a:t>While REBCO tape includes an intrinsic stabilizer, additional coil-level stabilization is required due to quench propagation in HTS magnets.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FE989-1452-ABC2-DE08-D8A06C470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EBD79-CB0C-2434-ECE0-2D8D7228E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2" y="1844824"/>
            <a:ext cx="4564889" cy="43924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77CE6-FE4A-4ED3-11E2-4877B9C90A6A}"/>
              </a:ext>
            </a:extLst>
          </p:cNvPr>
          <p:cNvSpPr txBox="1"/>
          <p:nvPr/>
        </p:nvSpPr>
        <p:spPr>
          <a:xfrm>
            <a:off x="179511" y="6192509"/>
            <a:ext cx="1627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(from ARC paper)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4B3CFF-4779-5EDE-3B90-5CD2D273FB0F}"/>
              </a:ext>
            </a:extLst>
          </p:cNvPr>
          <p:cNvSpPr txBox="1"/>
          <p:nvPr/>
        </p:nvSpPr>
        <p:spPr>
          <a:xfrm>
            <a:off x="4283968" y="1838722"/>
            <a:ext cx="44644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GulliverRM"/>
              </a:rPr>
              <a:t>The average composition of the winding pack (by area) is: </a:t>
            </a:r>
          </a:p>
          <a:p>
            <a:pPr algn="l"/>
            <a:endParaRPr lang="en-US" dirty="0">
              <a:latin typeface="GulliverRM"/>
            </a:endParaRPr>
          </a:p>
          <a:p>
            <a:pPr algn="l"/>
            <a:r>
              <a:rPr lang="en-US" sz="1800" b="0" i="0" u="none" strike="noStrike" baseline="0" dirty="0">
                <a:latin typeface="GulliverRM"/>
              </a:rPr>
              <a:t>45.9% copper, </a:t>
            </a:r>
          </a:p>
          <a:p>
            <a:pPr algn="l"/>
            <a:r>
              <a:rPr lang="en-US" sz="1800" b="0" i="0" u="none" strike="noStrike" baseline="0" dirty="0">
                <a:latin typeface="GulliverRM"/>
              </a:rPr>
              <a:t>46.1% steel, and </a:t>
            </a:r>
          </a:p>
          <a:p>
            <a:pPr algn="l"/>
            <a:r>
              <a:rPr lang="en-US" sz="1800" b="0" i="0" u="none" strike="noStrike" baseline="0" dirty="0">
                <a:highlight>
                  <a:srgbClr val="FFFF00"/>
                </a:highlight>
                <a:latin typeface="GulliverRM"/>
              </a:rPr>
              <a:t>8.0% REBCO tapes </a:t>
            </a:r>
            <a:r>
              <a:rPr lang="en-US" sz="1800" b="0" i="0" u="none" strike="noStrike" baseline="0" dirty="0">
                <a:latin typeface="GulliverRM"/>
              </a:rPr>
              <a:t>(corresponding to a stack  of 106 REBCO tapes of 12 mm width). 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B15B93-0759-B1EB-3177-BA386F395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98" y="4010671"/>
            <a:ext cx="4300559" cy="202795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63F0C6-573A-5688-F858-C861B2226944}"/>
              </a:ext>
            </a:extLst>
          </p:cNvPr>
          <p:cNvSpPr txBox="1"/>
          <p:nvPr/>
        </p:nvSpPr>
        <p:spPr>
          <a:xfrm>
            <a:off x="4568482" y="6060871"/>
            <a:ext cx="4300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[2021] Conceptual design of HTS magnets for fusion nuclear science facility</a:t>
            </a:r>
          </a:p>
        </p:txBody>
      </p:sp>
    </p:spTree>
    <p:extLst>
      <p:ext uri="{BB962C8B-B14F-4D97-AF65-F5344CB8AC3E}">
        <p14:creationId xmlns:p14="http://schemas.microsoft.com/office/powerpoint/2010/main" val="182503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CD2D-9F4A-A88C-B5FB-D1E57D66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Magnetic Winding Pack – REBCO Tapes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C014D3-4D26-CFFB-FB82-5EE1F9A2F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980728"/>
            <a:ext cx="4503968" cy="33520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6DAA9-F1F8-BD83-26AF-25A8C25F5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43191F-EBE7-BEB5-98A0-F2EFA4B25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218" y="980728"/>
            <a:ext cx="4451714" cy="4593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C38144-40C2-22D1-613A-6F3011D95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46" y="4454692"/>
            <a:ext cx="4104456" cy="1510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6D2784-C154-88D5-481A-E82E20EA3FF2}"/>
              </a:ext>
            </a:extLst>
          </p:cNvPr>
          <p:cNvSpPr txBox="1"/>
          <p:nvPr/>
        </p:nvSpPr>
        <p:spPr>
          <a:xfrm>
            <a:off x="179512" y="6087022"/>
            <a:ext cx="6130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3333FF"/>
                </a:solidFill>
                <a:highlight>
                  <a:srgbClr val="FFFF00"/>
                </a:highlight>
              </a:rPr>
              <a:t>Magnetic Winding Pack is not solely comprised of REBCO tape</a:t>
            </a:r>
          </a:p>
        </p:txBody>
      </p:sp>
    </p:spTree>
    <p:extLst>
      <p:ext uri="{BB962C8B-B14F-4D97-AF65-F5344CB8AC3E}">
        <p14:creationId xmlns:p14="http://schemas.microsoft.com/office/powerpoint/2010/main" val="337314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B53F2-33C7-4A0A-8E87-94AC6E88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B08E-A84A-BAF3-E305-47FCE9A5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procedure was taken to estimate the REBCO quantity (in mass) for </a:t>
            </a:r>
            <a:r>
              <a:rPr lang="en-US" dirty="0" err="1"/>
              <a:t>Hammir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Modelled </a:t>
            </a:r>
            <a:r>
              <a:rPr lang="en-US" dirty="0" err="1"/>
              <a:t>Hammir</a:t>
            </a:r>
            <a:r>
              <a:rPr lang="en-US" dirty="0"/>
              <a:t> (magnetic tandem) using </a:t>
            </a:r>
            <a:r>
              <a:rPr lang="en-US" dirty="0" err="1"/>
              <a:t>Paratan</a:t>
            </a:r>
            <a:endParaRPr lang="en-US" dirty="0"/>
          </a:p>
          <a:p>
            <a:pPr lvl="1"/>
            <a:r>
              <a:rPr lang="en-US" dirty="0"/>
              <a:t>The size for LF coils was assumed as: radial thickness 10 [cm], height 20 [cm]</a:t>
            </a:r>
          </a:p>
          <a:p>
            <a:pPr lvl="2"/>
            <a:r>
              <a:rPr lang="en-US" dirty="0"/>
              <a:t>Bore radius would differ for </a:t>
            </a:r>
            <a:r>
              <a:rPr lang="en-US" dirty="0" err="1"/>
              <a:t>lf</a:t>
            </a:r>
            <a:r>
              <a:rPr lang="en-US" dirty="0"/>
              <a:t> coils placed at core region (plasma) &amp; end-plug regions</a:t>
            </a:r>
          </a:p>
          <a:p>
            <a:pPr lvl="1"/>
            <a:r>
              <a:rPr lang="en-US" dirty="0"/>
              <a:t>The size for HF coils was assumed as: radial thickness 150 [cm], height 150 [cm]</a:t>
            </a:r>
          </a:p>
          <a:p>
            <a:pPr lvl="2"/>
            <a:r>
              <a:rPr lang="en-US" dirty="0"/>
              <a:t>The above values are taken from pre-existing </a:t>
            </a:r>
            <a:r>
              <a:rPr lang="en-US" dirty="0" err="1"/>
              <a:t>Hammir</a:t>
            </a:r>
            <a:r>
              <a:rPr lang="en-US" dirty="0"/>
              <a:t> input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2B02B-E6C8-CF2B-E575-02C5DD9A9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F67822-FE99-7774-64CF-0A92BBC85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48040" y="3400206"/>
            <a:ext cx="2512594" cy="31616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F27177-A6BC-9DF9-B8AC-7AB10FE75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050" y="4219153"/>
            <a:ext cx="5917455" cy="1815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77BD74-8CA8-B540-46D5-27734BB4B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815916" y="-756124"/>
            <a:ext cx="1512168" cy="829681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3A1D2B-7A3C-43D0-9694-82A423385FFE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2195736" y="4421249"/>
            <a:ext cx="434274" cy="5205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40F257B-D517-69CA-E1E8-DA88217110DC}"/>
              </a:ext>
            </a:extLst>
          </p:cNvPr>
          <p:cNvSpPr txBox="1"/>
          <p:nvPr/>
        </p:nvSpPr>
        <p:spPr>
          <a:xfrm>
            <a:off x="91982" y="4082695"/>
            <a:ext cx="507605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Filled with material named ‘Magnetic Winding Pack’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2ADC68-DF4B-C1DF-CE8B-B22890C6869D}"/>
              </a:ext>
            </a:extLst>
          </p:cNvPr>
          <p:cNvSpPr txBox="1"/>
          <p:nvPr/>
        </p:nvSpPr>
        <p:spPr>
          <a:xfrm>
            <a:off x="4801888" y="6035072"/>
            <a:ext cx="5076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LF coil as well filled with ‘Magnetic Winding Pack’</a:t>
            </a:r>
          </a:p>
        </p:txBody>
      </p:sp>
    </p:spTree>
    <p:extLst>
      <p:ext uri="{BB962C8B-B14F-4D97-AF65-F5344CB8AC3E}">
        <p14:creationId xmlns:p14="http://schemas.microsoft.com/office/powerpoint/2010/main" val="360938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111F-16DA-035C-BBB6-9FE85424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24114-9B72-FCD2-E823-981AAFBEC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</a:t>
            </a:r>
            <a:r>
              <a:rPr lang="en-US" dirty="0" err="1"/>
              <a:t>OpenMC</a:t>
            </a:r>
            <a:r>
              <a:rPr lang="en-US" dirty="0"/>
              <a:t> modelling of </a:t>
            </a:r>
            <a:r>
              <a:rPr lang="en-US" dirty="0" err="1"/>
              <a:t>Hammir</a:t>
            </a:r>
            <a:r>
              <a:rPr lang="en-US" dirty="0"/>
              <a:t>, deduce the volume occupied with material named </a:t>
            </a:r>
          </a:p>
          <a:p>
            <a:r>
              <a:rPr lang="en-US" dirty="0"/>
              <a:t>‘Magnetic Winding Pack 2.0’ </a:t>
            </a:r>
          </a:p>
          <a:p>
            <a:pPr lvl="1"/>
            <a:r>
              <a:rPr lang="en-US" dirty="0"/>
              <a:t>Such material is comprised of the following items: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Resembles the REBCO tape configuration, but not the other structural materials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Recall that REBCO tape by itself does not solely comprise the Winding Pack in reality</a:t>
            </a:r>
          </a:p>
          <a:p>
            <a:pPr lvl="1"/>
            <a:r>
              <a:rPr lang="en-US" dirty="0"/>
              <a:t>The net volume of ‘Magnetic Winding Pack 2.0’ for the previous design is 9.28E+07 [cc]</a:t>
            </a:r>
          </a:p>
          <a:p>
            <a:pPr lvl="2"/>
            <a:r>
              <a:rPr lang="en-US" dirty="0"/>
              <a:t>The volume occupied by </a:t>
            </a:r>
            <a:r>
              <a:rPr lang="en-US" dirty="0" err="1"/>
              <a:t>rebco</a:t>
            </a:r>
            <a:r>
              <a:rPr lang="en-US" dirty="0"/>
              <a:t> according to the above table is then 2.44E+06 [cc]</a:t>
            </a:r>
          </a:p>
          <a:p>
            <a:pPr lvl="2"/>
            <a:r>
              <a:rPr lang="en-US" dirty="0"/>
              <a:t>With density value of 6.3 g/cc, yields 15.38 [ton] (!) ---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This approach is invalid!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32645-D5A7-4293-32DF-4DB3BF013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BD1AAE-4AD0-3C80-EB4B-596B99DEF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522731"/>
              </p:ext>
            </p:extLst>
          </p:nvPr>
        </p:nvGraphicFramePr>
        <p:xfrm>
          <a:off x="370168" y="1772816"/>
          <a:ext cx="4752528" cy="25336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912534993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3274582089"/>
                    </a:ext>
                  </a:extLst>
                </a:gridCol>
              </a:tblGrid>
              <a:tr h="161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Material Name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Fraction (at %) [-]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164923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copper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1.31E-01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4020870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silver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5.25E-02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0162477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rebco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2.63E-02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6985650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lamno3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5.25E-04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6623706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MgO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1.31E-03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9937490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yttrium_oxide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1.31E-04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654915"/>
                  </a:ext>
                </a:extLst>
              </a:tr>
              <a:tr h="2493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alumina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5.25E-04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7017903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hastelloy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7.88E-01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6428950"/>
                  </a:ext>
                </a:extLst>
              </a:tr>
              <a:tr h="1266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1.00E+00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53459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8C556EC-38C7-11DA-1883-A8129450E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405" y="1268760"/>
            <a:ext cx="3705985" cy="311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6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7973-E5AF-DDD7-A8F9-0B77927E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3EA03-EC18-F129-7CC4-B0CA637ED7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 how do we ascertain amount of REBCO being employed in </a:t>
                </a:r>
                <a:r>
                  <a:rPr lang="en-US" dirty="0" err="1"/>
                  <a:t>Hammir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Need to postulate fraction of REBCO Tape within the winding pack, which comprises the HF and LF coils (Value of 0.08 taken from ARC paper).</a:t>
                </a:r>
              </a:p>
              <a:p>
                <a:pPr lvl="1"/>
                <a:r>
                  <a:rPr lang="en-US" dirty="0"/>
                  <a:t>The REBCO tape configuration (including substrate and everything) is assumed to be:</a:t>
                </a:r>
              </a:p>
              <a:p>
                <a:pPr lvl="2"/>
                <a:r>
                  <a:rPr lang="en-US" dirty="0"/>
                  <a:t>Thickness 0.1 [mm] &amp; Width 12 [mm]: Per 1 [km] of REBCO tape ↔ Volume of 1,200 [cc]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Volume occupied by REBCO tape: 0.08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9.28E+07 = 7.43E+06 [cc]</a:t>
                </a:r>
              </a:p>
              <a:p>
                <a:pPr lvl="1"/>
                <a:r>
                  <a:rPr lang="en-US" dirty="0"/>
                  <a:t>The length of REBCO tape would be then 7.43E+06 [cc] ÷ 1.20E+03 [cc/km]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/>
                  <a:t> 6,187 [km]</a:t>
                </a:r>
              </a:p>
              <a:p>
                <a:pPr lvl="2"/>
                <a:r>
                  <a:rPr lang="en-US" dirty="0"/>
                  <a:t>The REBCO tape length for ARC reactor (2015 paper) is given as 5,730 [km]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D3EA03-EC18-F129-7CC4-B0CA637ED7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884DB-9533-BC37-2495-971FE9C70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B40AF-B921-ACAC-02E2-D6124B6E3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86" y="2287487"/>
            <a:ext cx="4968105" cy="2283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C9D0B8-6391-9231-D2FB-62E389732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491" y="2321223"/>
            <a:ext cx="2775701" cy="233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5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9A02-898C-C91E-C60E-F9ED6AB6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in </a:t>
            </a:r>
            <a:r>
              <a:rPr lang="en-US" dirty="0" err="1"/>
              <a:t>Hammir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503E3-D22C-EFB0-9E0B-B207F0EF0F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following HF coil configuration was employed for comparison:</a:t>
                </a:r>
              </a:p>
              <a:p>
                <a:pPr lvl="1"/>
                <a:r>
                  <a:rPr lang="en-US" dirty="0"/>
                  <a:t>Retrieved from Samuel Frank, et al., ‘Confinement performance predictions for a high field   axisymmetric tandem mirror’ </a:t>
                </a:r>
                <a:r>
                  <a:rPr lang="pt-BR" dirty="0"/>
                  <a:t>J. Plasma Phys. (2025), vol. 91, E110</a:t>
                </a:r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endParaRPr lang="pt-BR" dirty="0"/>
              </a:p>
              <a:p>
                <a:pPr lvl="1"/>
                <a:r>
                  <a:rPr lang="pt-BR" dirty="0"/>
                  <a:t>Assuming same LF coil configuration, yields total ‘Magnetic Winding Pack 2.0’ volume of        2.11E+07 [cc], which corresponds to REBCO tape length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/>
                  <a:t> 1,406 [km]</a:t>
                </a:r>
              </a:p>
              <a:p>
                <a:pPr lvl="1"/>
                <a:endParaRPr lang="pt-BR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503E3-D22C-EFB0-9E0B-B207F0EF0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35492-C0FE-FABD-1679-70AE56C01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109E0-0304-4293-BB81-AF5FFA037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01" y="1774082"/>
            <a:ext cx="4536504" cy="3572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3764FC-D986-40A0-F97E-5F37C9544058}"/>
              </a:ext>
            </a:extLst>
          </p:cNvPr>
          <p:cNvSpPr txBox="1"/>
          <p:nvPr/>
        </p:nvSpPr>
        <p:spPr>
          <a:xfrm>
            <a:off x="4704483" y="2060848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Bore radius: 0.6 [m]</a:t>
            </a:r>
          </a:p>
          <a:p>
            <a:r>
              <a:rPr lang="en-US" sz="1600" dirty="0"/>
              <a:t>Radial thickness: 0.8 [m]</a:t>
            </a:r>
          </a:p>
          <a:p>
            <a:r>
              <a:rPr lang="en-US" sz="1600" dirty="0"/>
              <a:t>Height: 0.5 [m]</a:t>
            </a:r>
          </a:p>
        </p:txBody>
      </p:sp>
    </p:spTree>
    <p:extLst>
      <p:ext uri="{BB962C8B-B14F-4D97-AF65-F5344CB8AC3E}">
        <p14:creationId xmlns:p14="http://schemas.microsoft.com/office/powerpoint/2010/main" val="2213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9F56-8B9C-3920-D19D-A59473FA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DF5F-3221-CDC3-9820-09BE9030D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B.N. </a:t>
            </a:r>
            <a:r>
              <a:rPr lang="en-US" dirty="0" err="1"/>
              <a:t>Sorbom</a:t>
            </a:r>
            <a:r>
              <a:rPr lang="en-US" dirty="0"/>
              <a:t>, et al., ‘ARC: A compact, high-field, fusion nuclear science facility and demo-</a:t>
            </a:r>
            <a:r>
              <a:rPr lang="en-US" dirty="0" err="1"/>
              <a:t>nstration</a:t>
            </a:r>
            <a:r>
              <a:rPr lang="en-US" dirty="0"/>
              <a:t> power plant with demountable magnets’ Fusion Engineering and Design 100 (2015) 378–405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Yuhu</a:t>
            </a:r>
            <a:r>
              <a:rPr lang="en-US" dirty="0"/>
              <a:t> Zhai, et al., ‘Conceptual design of HTS magnets for fusion nuclear science facility ’  Fusion Engineering and Design 168 (2021) 112611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Samuel Frank, et al., ‘Confinement performance predictions for a high field  axisymmetric tandem mirror’ </a:t>
            </a:r>
            <a:r>
              <a:rPr lang="pt-BR" dirty="0"/>
              <a:t>J. Plasma Phys. (2025), vol. 91, E110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C40ED-A6BC-5750-552E-1343822C0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6C805D5-C98D-1960-A8C8-FD0D19AF8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855092"/>
            <a:ext cx="6163535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89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30767</TotalTime>
  <Words>822</Words>
  <Application>Microsoft Office PowerPoint</Application>
  <PresentationFormat>화면 슬라이드 쇼(4:3)</PresentationFormat>
  <Paragraphs>117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Euclid</vt:lpstr>
      <vt:lpstr>GulliverRM</vt:lpstr>
      <vt:lpstr>맑은 고딕</vt:lpstr>
      <vt:lpstr>Aptos Narrow</vt:lpstr>
      <vt:lpstr>Arial</vt:lpstr>
      <vt:lpstr>Book Antiqua</vt:lpstr>
      <vt:lpstr>Cambria Math</vt:lpstr>
      <vt:lpstr>Times New Roman</vt:lpstr>
      <vt:lpstr>RDTL_PPT_Template_(20%_cooler)</vt:lpstr>
      <vt:lpstr>Magnetic Winding Pack – REBCO Tapes</vt:lpstr>
      <vt:lpstr>Magnetic Winding Pack – REBCO Tapes</vt:lpstr>
      <vt:lpstr>Magnetic Winding Pack – REBCO Tapes</vt:lpstr>
      <vt:lpstr>REBCO in Hammir?</vt:lpstr>
      <vt:lpstr>REBCO in Hammir?</vt:lpstr>
      <vt:lpstr>REBCO in Hammir?</vt:lpstr>
      <vt:lpstr>REBCO in Hammir?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819</cp:revision>
  <cp:lastPrinted>2014-09-26T06:44:14Z</cp:lastPrinted>
  <dcterms:created xsi:type="dcterms:W3CDTF">2013-05-26T12:21:08Z</dcterms:created>
  <dcterms:modified xsi:type="dcterms:W3CDTF">2026-05-26T19:00:48Z</dcterms:modified>
</cp:coreProperties>
</file>